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layfair Display Medium"/>
      <p:regular r:id="rId24"/>
      <p:bold r:id="rId25"/>
      <p:italic r:id="rId26"/>
      <p:boldItalic r:id="rId27"/>
    </p:embeddedFont>
    <p:embeddedFont>
      <p:font typeface="Playfair Displ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Lato Light"/>
      <p:regular r:id="rId36"/>
      <p:bold r:id="rId37"/>
      <p:italic r:id="rId38"/>
      <p:boldItalic r:id="rId39"/>
    </p:embeddedFont>
    <p:embeddedFont>
      <p:font typeface="Lato Hairline"/>
      <p:regular r:id="rId40"/>
      <p:bold r:id="rId41"/>
      <p:italic r:id="rId42"/>
      <p:boldItalic r:id="rId43"/>
    </p:embeddedFont>
    <p:embeddedFont>
      <p:font typeface="Lato Black"/>
      <p:bold r:id="rId44"/>
      <p:boldItalic r:id="rId45"/>
    </p:embeddedFont>
    <p:embeddedFont>
      <p:font typeface="Playfair Display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1E81DD-438F-4CEA-A41B-B705CBAD04C1}">
  <a:tblStyle styleId="{FD1E81DD-438F-4CEA-A41B-B705CBAD04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Hairline-regular.fntdata"/><Relationship Id="rId42" Type="http://schemas.openxmlformats.org/officeDocument/2006/relationships/font" Target="fonts/LatoHairline-italic.fntdata"/><Relationship Id="rId41" Type="http://schemas.openxmlformats.org/officeDocument/2006/relationships/font" Target="fonts/LatoHairline-bold.fntdata"/><Relationship Id="rId44" Type="http://schemas.openxmlformats.org/officeDocument/2006/relationships/font" Target="fonts/LatoBlack-bold.fntdata"/><Relationship Id="rId43" Type="http://schemas.openxmlformats.org/officeDocument/2006/relationships/font" Target="fonts/LatoHairline-boldItalic.fntdata"/><Relationship Id="rId46" Type="http://schemas.openxmlformats.org/officeDocument/2006/relationships/font" Target="fonts/PlayfairDisplaySemiBold-regular.fntdata"/><Relationship Id="rId45" Type="http://schemas.openxmlformats.org/officeDocument/2006/relationships/font" Target="fonts/Lato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ayfairDisplaySemiBold-italic.fntdata"/><Relationship Id="rId47" Type="http://schemas.openxmlformats.org/officeDocument/2006/relationships/font" Target="fonts/PlayfairDisplaySemiBold-bold.fntdata"/><Relationship Id="rId49" Type="http://schemas.openxmlformats.org/officeDocument/2006/relationships/font" Target="fonts/PlayfairDisplay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33" Type="http://schemas.openxmlformats.org/officeDocument/2006/relationships/font" Target="fonts/Lato-bold.fntdata"/><Relationship Id="rId32" Type="http://schemas.openxmlformats.org/officeDocument/2006/relationships/font" Target="fonts/Lato-regular.fntdata"/><Relationship Id="rId35" Type="http://schemas.openxmlformats.org/officeDocument/2006/relationships/font" Target="fonts/Lato-boldItalic.fntdata"/><Relationship Id="rId34" Type="http://schemas.openxmlformats.org/officeDocument/2006/relationships/font" Target="fonts/Lato-italic.fntdata"/><Relationship Id="rId37" Type="http://schemas.openxmlformats.org/officeDocument/2006/relationships/font" Target="fonts/LatoLight-bold.fntdata"/><Relationship Id="rId36" Type="http://schemas.openxmlformats.org/officeDocument/2006/relationships/font" Target="fonts/LatoLight-regular.fntdata"/><Relationship Id="rId39" Type="http://schemas.openxmlformats.org/officeDocument/2006/relationships/font" Target="fonts/LatoLight-boldItalic.fntdata"/><Relationship Id="rId38" Type="http://schemas.openxmlformats.org/officeDocument/2006/relationships/font" Target="fonts/LatoLigh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fairDisplayMedium-regular.fntdata"/><Relationship Id="rId23" Type="http://schemas.openxmlformats.org/officeDocument/2006/relationships/slide" Target="slides/slide17.xml"/><Relationship Id="rId26" Type="http://schemas.openxmlformats.org/officeDocument/2006/relationships/font" Target="fonts/PlayfairDisplayMedium-italic.fntdata"/><Relationship Id="rId25" Type="http://schemas.openxmlformats.org/officeDocument/2006/relationships/font" Target="fonts/PlayfairDisplayMedium-bold.fntdata"/><Relationship Id="rId28" Type="http://schemas.openxmlformats.org/officeDocument/2006/relationships/font" Target="fonts/PlayfairDisplay-regular.fntdata"/><Relationship Id="rId27" Type="http://schemas.openxmlformats.org/officeDocument/2006/relationships/font" Target="fonts/PlayfairDisplayMedium-boldItalic.fntdata"/><Relationship Id="rId29" Type="http://schemas.openxmlformats.org/officeDocument/2006/relationships/font" Target="fonts/PlayfairDisplay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b2c80e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b2c80e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b60032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5b60032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b99bf73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b99bf73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b2c80eb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b2c80eb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b2c80eb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5b2c80eb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b2c80eb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b2c80e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b2c80eb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5b2c80eb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40c9322b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40c9322b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0c9322b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40c9322b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0c9322b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40c9322b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40c9322b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40c9322b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40c9322b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40c9322b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40c9322b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40c9322b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0c9322b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40c9322b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0c9322b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40c9322b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5be78f5e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5be78f5e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kaggle.com/datasets/mlg-ulb/creditcardfraud" TargetMode="External"/><Relationship Id="rId4" Type="http://schemas.openxmlformats.org/officeDocument/2006/relationships/hyperlink" Target="https://fonts.google.com/ic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176160"/>
                </a:solidFill>
              </a:rPr>
              <a:t>C</a:t>
            </a:r>
            <a:r>
              <a:rPr lang="en" sz="4600">
                <a:solidFill>
                  <a:srgbClr val="176160"/>
                </a:solidFill>
              </a:rPr>
              <a:t>redit Card </a:t>
            </a:r>
            <a:r>
              <a:rPr lang="en" sz="4600">
                <a:solidFill>
                  <a:srgbClr val="176160"/>
                </a:solidFill>
              </a:rPr>
              <a:t>Fraud Detection</a:t>
            </a:r>
            <a:endParaRPr sz="4600">
              <a:solidFill>
                <a:srgbClr val="17616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Shelagh Haney, Ryenn McAdory, </a:t>
            </a: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Andrea Scherben </a:t>
            </a:r>
            <a:endParaRPr sz="18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Northwestern University </a:t>
            </a: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| </a:t>
            </a:r>
            <a:r>
              <a:rPr lang="en"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MSDS 422</a:t>
            </a: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10314" y="2111304"/>
            <a:ext cx="2227200" cy="233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506475" y="2111304"/>
            <a:ext cx="2227200" cy="233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458400" y="2111304"/>
            <a:ext cx="2227200" cy="233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89225" y="2245525"/>
            <a:ext cx="22272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Problem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Fraudulent transactions are incredibly rare, but missing them carries massive financial and reputational risk</a:t>
            </a:r>
            <a:endParaRPr sz="17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Executive Summary</a:t>
            </a:r>
            <a:endParaRPr sz="3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Designing a Machine Learning pipeline to identify real-time financial fraud while minimizing false-alarms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458400" y="2245600"/>
            <a:ext cx="22272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Process 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Reviewed the data structure, transformed data, and prepared the dataset for machine learning models</a:t>
            </a:r>
            <a:endParaRPr sz="17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506475" y="2276675"/>
            <a:ext cx="2227200" cy="21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</a:t>
            </a:r>
            <a:r>
              <a:rPr b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Solution</a:t>
            </a:r>
            <a:endParaRPr b="1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Built models that detect fraud while limiting false alarms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610575" y="2686550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4"/>
          <p:cNvCxnSpPr/>
          <p:nvPr/>
        </p:nvCxnSpPr>
        <p:spPr>
          <a:xfrm>
            <a:off x="3657125" y="2686550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6740300" y="2686550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2769550" y="32808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" name="Google Shape;71;p14"/>
          <p:cNvCxnSpPr/>
          <p:nvPr/>
        </p:nvCxnSpPr>
        <p:spPr>
          <a:xfrm>
            <a:off x="5849538" y="32808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311700" y="4189543"/>
            <a:ext cx="8520600" cy="678900"/>
          </a:xfrm>
          <a:prstGeom prst="roundRect">
            <a:avLst>
              <a:gd fmla="val 16667" name="adj"/>
            </a:avLst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742050" y="1662725"/>
            <a:ext cx="4113000" cy="2312100"/>
          </a:xfrm>
          <a:prstGeom prst="roundRect">
            <a:avLst>
              <a:gd fmla="val 8001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88975" y="1662725"/>
            <a:ext cx="4113000" cy="2312100"/>
          </a:xfrm>
          <a:prstGeom prst="roundRect">
            <a:avLst>
              <a:gd fmla="val 8001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Why Fraud Matters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Protect revenue, ensure compliance, and strengthen trust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1065625" y="4194743"/>
            <a:ext cx="8013900" cy="6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Effective fraud detection creates value by 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improving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 security and 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reducing Disruption</a:t>
            </a:r>
            <a:r>
              <a:rPr lang="en" sz="1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1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6474075" y="2589850"/>
            <a:ext cx="2358300" cy="1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Reduce false declines</a:t>
            </a:r>
            <a:endParaRPr sz="1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Support smoother transactions</a:t>
            </a:r>
            <a:endParaRPr sz="12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Strengthen customer trust</a:t>
            </a:r>
            <a:r>
              <a:rPr lang="en" sz="14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841875" y="2611225"/>
            <a:ext cx="2560200" cy="1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Detect suspicious activity earlier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Lower chargebacks &amp; recovery costs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Protect financial performance</a:t>
            </a: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  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1798350" y="1727000"/>
            <a:ext cx="25602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Reduce Excessive Losses</a:t>
            </a:r>
            <a:endParaRPr sz="20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6412500" y="1727000"/>
            <a:ext cx="2419800" cy="10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Improve Customer Experience</a:t>
            </a:r>
            <a:endParaRPr sz="20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1684184" y="1804041"/>
            <a:ext cx="0" cy="2072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6313375" y="1804041"/>
            <a:ext cx="0" cy="20721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" name="Google Shape;87;p15" title="attach_money_100dp_176161_FILL0_wght4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75" y="246709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464800" y="4277700"/>
            <a:ext cx="513300" cy="513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5" title="check_circle_100dp_176161_FILL0_wght400_GRAD0_opsz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50" y="4272500"/>
            <a:ext cx="513000" cy="5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 title="shield_153dp_176161_FILL0_wght400_GRAD0_opsz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850" y="2209954"/>
            <a:ext cx="14573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 title="credit_score_153dp_176161_FILL0_wght400_GRAD0_opsz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6250" y="2214683"/>
            <a:ext cx="145732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172375" y="5331125"/>
            <a:ext cx="648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Icons Source: </a:t>
            </a:r>
            <a:r>
              <a:rPr lang="en" sz="2300"/>
              <a:t>https://fonts.google.com/icons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6648765" y="1745875"/>
            <a:ext cx="2061000" cy="10443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158089" y="3553525"/>
            <a:ext cx="1983900" cy="9228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3613812" y="1745875"/>
            <a:ext cx="2061000" cy="10443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085859" y="3553525"/>
            <a:ext cx="1984500" cy="9228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34237" y="1745875"/>
            <a:ext cx="2205600" cy="10443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45025"/>
            <a:ext cx="85206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Objectives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Building a model that captures fraud while minimizing false positives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66742" y="1783509"/>
            <a:ext cx="1984500" cy="9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Find Signals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Which features drive fraud</a:t>
            </a: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, and </a:t>
            </a: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does our engineered time feature add value?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2086145" y="3553525"/>
            <a:ext cx="17943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Compare Models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Build and compare at least four models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613813" y="1779052"/>
            <a:ext cx="1878300" cy="9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Tune the T</a:t>
            </a: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hreshold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Find the sweet spot between catching fraud and minimizing false alarms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648765" y="1779052"/>
            <a:ext cx="1735800" cy="9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</a:t>
            </a: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Strategy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Recommend a practical path to score transactions in near real time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1432036" y="3066300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16"/>
          <p:cNvCxnSpPr>
            <a:stCxn id="107" idx="0"/>
            <a:endCxn id="101" idx="2"/>
          </p:cNvCxnSpPr>
          <p:nvPr/>
        </p:nvCxnSpPr>
        <p:spPr>
          <a:xfrm flipH="1" rot="10800000">
            <a:off x="1536136" y="2790300"/>
            <a:ext cx="900" cy="2760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>
            <a:stCxn id="110" idx="4"/>
            <a:endCxn id="104" idx="0"/>
          </p:cNvCxnSpPr>
          <p:nvPr/>
        </p:nvCxnSpPr>
        <p:spPr>
          <a:xfrm flipH="1">
            <a:off x="2983298" y="3286887"/>
            <a:ext cx="1500" cy="2667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>
            <a:stCxn id="112" idx="0"/>
            <a:endCxn id="99" idx="2"/>
          </p:cNvCxnSpPr>
          <p:nvPr/>
        </p:nvCxnSpPr>
        <p:spPr>
          <a:xfrm rot="10800000">
            <a:off x="4644409" y="2790226"/>
            <a:ext cx="4500" cy="2655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6"/>
          <p:cNvCxnSpPr>
            <a:stCxn id="114" idx="4"/>
            <a:endCxn id="98" idx="0"/>
          </p:cNvCxnSpPr>
          <p:nvPr/>
        </p:nvCxnSpPr>
        <p:spPr>
          <a:xfrm flipH="1">
            <a:off x="6150037" y="3275326"/>
            <a:ext cx="300" cy="2781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6"/>
          <p:cNvCxnSpPr>
            <a:stCxn id="116" idx="0"/>
            <a:endCxn id="97" idx="2"/>
          </p:cNvCxnSpPr>
          <p:nvPr/>
        </p:nvCxnSpPr>
        <p:spPr>
          <a:xfrm flipH="1" rot="10800000">
            <a:off x="7677201" y="2790225"/>
            <a:ext cx="2100" cy="26550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1469625" y="3181975"/>
            <a:ext cx="6193200" cy="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6"/>
          <p:cNvSpPr txBox="1"/>
          <p:nvPr/>
        </p:nvSpPr>
        <p:spPr>
          <a:xfrm>
            <a:off x="1042725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720800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398875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082677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4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766475" y="5771075"/>
            <a:ext cx="334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  <a:latin typeface="Lato Black"/>
                <a:ea typeface="Lato Black"/>
                <a:cs typeface="Lato Black"/>
                <a:sym typeface="Lato Black"/>
              </a:rPr>
              <a:t>5</a:t>
            </a:r>
            <a:endParaRPr sz="1800">
              <a:solidFill>
                <a:srgbClr val="FAFAFA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>
            <a:off x="1617412" y="3163942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6"/>
          <p:cNvCxnSpPr/>
          <p:nvPr/>
        </p:nvCxnSpPr>
        <p:spPr>
          <a:xfrm>
            <a:off x="3070216" y="3162850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6"/>
          <p:cNvCxnSpPr/>
          <p:nvPr/>
        </p:nvCxnSpPr>
        <p:spPr>
          <a:xfrm>
            <a:off x="4703603" y="3162850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6"/>
          <p:cNvCxnSpPr/>
          <p:nvPr/>
        </p:nvCxnSpPr>
        <p:spPr>
          <a:xfrm>
            <a:off x="6238183" y="3162850"/>
            <a:ext cx="788700" cy="1800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6"/>
          <p:cNvSpPr/>
          <p:nvPr/>
        </p:nvSpPr>
        <p:spPr>
          <a:xfrm>
            <a:off x="2880698" y="3067287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544809" y="3055726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046237" y="3055726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573101" y="3055725"/>
            <a:ext cx="208200" cy="219600"/>
          </a:xfrm>
          <a:prstGeom prst="ellipse">
            <a:avLst/>
          </a:prstGeom>
          <a:solidFill>
            <a:srgbClr val="1761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6"/>
          <p:cNvCxnSpPr/>
          <p:nvPr/>
        </p:nvCxnSpPr>
        <p:spPr>
          <a:xfrm flipH="1" rot="10800000">
            <a:off x="598190" y="2114651"/>
            <a:ext cx="814200" cy="9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6"/>
          <p:cNvCxnSpPr/>
          <p:nvPr/>
        </p:nvCxnSpPr>
        <p:spPr>
          <a:xfrm>
            <a:off x="2224466" y="3932302"/>
            <a:ext cx="1170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6"/>
          <p:cNvCxnSpPr/>
          <p:nvPr/>
        </p:nvCxnSpPr>
        <p:spPr>
          <a:xfrm>
            <a:off x="3764137" y="2113007"/>
            <a:ext cx="1293900" cy="9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5158100" y="3553525"/>
            <a:ext cx="19281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Quantify Impact 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Translate model accuracy into dollars saved and costs avoided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31" name="Google Shape;131;p16"/>
          <p:cNvCxnSpPr/>
          <p:nvPr/>
        </p:nvCxnSpPr>
        <p:spPr>
          <a:xfrm>
            <a:off x="5297913" y="3919555"/>
            <a:ext cx="11109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6"/>
          <p:cNvCxnSpPr/>
          <p:nvPr/>
        </p:nvCxnSpPr>
        <p:spPr>
          <a:xfrm>
            <a:off x="6802956" y="2120607"/>
            <a:ext cx="1458900" cy="1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6071238" y="1891071"/>
            <a:ext cx="25737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4869575" y="3535650"/>
            <a:ext cx="37755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99075" y="3535650"/>
            <a:ext cx="37755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99063" y="1882496"/>
            <a:ext cx="2573700" cy="122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What Does the Data Look Like?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A snapshot of credit‑card activity, fully anonymized for privacy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1521525" y="1981375"/>
            <a:ext cx="15510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284,807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transactions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081100" y="1986775"/>
            <a:ext cx="15510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492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fraud transactions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3915900" y="1984736"/>
            <a:ext cx="1312200" cy="1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8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0.17%</a:t>
            </a:r>
            <a:endParaRPr b="1" sz="3885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fraud rate</a:t>
            </a:r>
            <a:endParaRPr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1767326" y="3625950"/>
            <a:ext cx="25074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</a:t>
            </a: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predictors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Time, Amount, V1-V28 features 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6" name="Google Shape;146;p17"/>
          <p:cNvSpPr txBox="1"/>
          <p:nvPr>
            <p:ph idx="1" type="body"/>
          </p:nvPr>
        </p:nvSpPr>
        <p:spPr>
          <a:xfrm>
            <a:off x="6278875" y="3625950"/>
            <a:ext cx="2353200" cy="10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48 </a:t>
            </a:r>
            <a:r>
              <a:rPr b="1" lang="en" sz="2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hours</a:t>
            </a:r>
            <a:endParaRPr b="1" sz="26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transaction window</a:t>
            </a:r>
            <a:endParaRPr sz="1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67127" y="2179499"/>
            <a:ext cx="654300" cy="627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58925" y="3729299"/>
            <a:ext cx="869700" cy="834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264952" y="2188074"/>
            <a:ext cx="654300" cy="6276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094850" y="3729299"/>
            <a:ext cx="869700" cy="834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7" title="history_100dp_176161_FILL0_wght400_GRAD0_opsz4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950" y="3844700"/>
            <a:ext cx="603500" cy="6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title="database_100dp_176161_FILL0_wght400_GRAD0_opsz4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777" y="2223796"/>
            <a:ext cx="539000" cy="5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title="bar_chart_100dp_176161_FILL0_wght400_GRAD0_opsz4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625" y="3793900"/>
            <a:ext cx="654300" cy="6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title="mobile_theft_100dp_176161_FILL0_wght400_GRAD0_opsz4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5927" y="2285696"/>
            <a:ext cx="432350" cy="43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fraud_circle2.0.gi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54005" y="1194988"/>
            <a:ext cx="2434276" cy="243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title="download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18" y="1560675"/>
            <a:ext cx="4299699" cy="32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5271285" y="1243775"/>
            <a:ext cx="3132000" cy="1325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271275" y="2788220"/>
            <a:ext cx="3132000" cy="1325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 Insights</a:t>
            </a:r>
            <a:r>
              <a:rPr b="1" lang="en" sz="3000">
                <a:latin typeface="Lato"/>
                <a:ea typeface="Lato"/>
                <a:cs typeface="Lato"/>
                <a:sym typeface="Lato"/>
              </a:rPr>
              <a:t> </a:t>
            </a:r>
            <a:endParaRPr b="1"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What the Transaction Log Shows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5406726" y="1317400"/>
            <a:ext cx="27021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51% </a:t>
            </a:r>
            <a:endParaRPr b="1" sz="30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o</a:t>
            </a: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f  fraud transactions were less than $10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5406725" y="2861850"/>
            <a:ext cx="28434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$2125</a:t>
            </a:r>
            <a:endParaRPr b="1" sz="30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Is the maximum fraudulent transaction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411500" y="3159575"/>
            <a:ext cx="3230100" cy="1019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411500" y="1848525"/>
            <a:ext cx="3230100" cy="10611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311700" y="447091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Key Drivers of Fraud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The strongest anonymized variables (V‑numbers) that have the greatest influence on fraudulent activity.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411500" y="1848525"/>
            <a:ext cx="3051300" cy="101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Identifying the Signals</a:t>
            </a:r>
            <a:endParaRPr b="1" sz="16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Because the dataset is fully anonymized for privacy, we must rely on correlation</a:t>
            </a:r>
            <a:endParaRPr sz="1600"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74" name="Google Shape;174;p19" title="download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345" y="1794125"/>
            <a:ext cx="4118216" cy="30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411500" y="3159575"/>
            <a:ext cx="3165000" cy="101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6160"/>
                </a:solidFill>
                <a:latin typeface="Lato"/>
                <a:ea typeface="Lato"/>
                <a:cs typeface="Lato"/>
                <a:sym typeface="Lato"/>
              </a:rPr>
              <a:t>Positive and Negative Predictors</a:t>
            </a:r>
            <a:endParaRPr b="1" sz="1600">
              <a:solidFill>
                <a:srgbClr val="17616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hese gives our models the mathematical blueprint needed to detect organized attacks</a:t>
            </a:r>
            <a:endParaRPr sz="15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2217825" y="4266775"/>
            <a:ext cx="6926400" cy="57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2217825" y="3240100"/>
            <a:ext cx="6926400" cy="57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2217825" y="2156575"/>
            <a:ext cx="6926400" cy="570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Preparing the Data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Turning raw transaction logs into a trustworthy, model‑ready dataset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2390400" y="2147875"/>
            <a:ext cx="64863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we did: 	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Retained duplicate transactions and large monetary outliers 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it matters: 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 	Duplicates and outliers demonstrate real-world patterns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2385925" y="3240100"/>
            <a:ext cx="64863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we did: 	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Evaluated and engineered features to maximize predictive signal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it matters: 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Ensures the models receive the most informative version of every variable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2385925" y="4263375"/>
            <a:ext cx="6486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we did: 	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Isolated testing data before doing any modeling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Why it matters: 	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G</a:t>
            </a:r>
            <a:r>
              <a:rPr lang="en" sz="12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uarantees that we can test accuracy of the models </a:t>
            </a:r>
            <a:endParaRPr sz="12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317858" y="1761776"/>
            <a:ext cx="246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Preserving</a:t>
            </a:r>
            <a:endParaRPr sz="160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317858" y="2782576"/>
            <a:ext cx="246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Transforming 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17858" y="3804049"/>
            <a:ext cx="24600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Splitting</a:t>
            </a:r>
            <a:r>
              <a:rPr lang="en" sz="16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2375" y="2160900"/>
            <a:ext cx="9162600" cy="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-9300" y="3242775"/>
            <a:ext cx="9162600" cy="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-9300" y="4263375"/>
            <a:ext cx="9162600" cy="0"/>
          </a:xfrm>
          <a:prstGeom prst="straightConnector1">
            <a:avLst/>
          </a:prstGeom>
          <a:noFill/>
          <a:ln cap="flat" cmpd="sng" w="2857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410314" y="1882699"/>
            <a:ext cx="2227200" cy="28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6506475" y="1882699"/>
            <a:ext cx="2227200" cy="28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3458400" y="1882700"/>
            <a:ext cx="2227200" cy="283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6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389225" y="1952850"/>
            <a:ext cx="22272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Tooling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Built within a notebook environment (Colab)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Developed in Python 3 using pandas, scikit-learn, and Matplotlib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Relied entirely on CPU-based training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Methodology and Tools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Building a simple, fast Fraud-Detection pipeline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2" name="Google Shape;202;p21"/>
          <p:cNvSpPr txBox="1"/>
          <p:nvPr>
            <p:ph idx="1" type="body"/>
          </p:nvPr>
        </p:nvSpPr>
        <p:spPr>
          <a:xfrm>
            <a:off x="3458400" y="1952850"/>
            <a:ext cx="22272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Evaluation</a:t>
            </a:r>
            <a:r>
              <a:rPr lang="en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endParaRPr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Standard accuracy is misleading in this dataset 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Primary metric: PR-AUC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6506475" y="1952525"/>
            <a:ext cx="22272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Decisions</a:t>
            </a:r>
            <a:endParaRPr b="1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Class imbalance handling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Threshold as a  </a:t>
            </a: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business</a:t>
            </a: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 lever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Small-Sample caveat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597641" y="2406216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3644191" y="2406216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6727366" y="2406216"/>
            <a:ext cx="1443300" cy="0"/>
          </a:xfrm>
          <a:prstGeom prst="straightConnector1">
            <a:avLst/>
          </a:prstGeom>
          <a:noFill/>
          <a:ln cap="flat" cmpd="sng" w="9525">
            <a:solidFill>
              <a:srgbClr val="E3EB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1"/>
          <p:cNvCxnSpPr/>
          <p:nvPr/>
        </p:nvCxnSpPr>
        <p:spPr>
          <a:xfrm>
            <a:off x="2769550" y="30522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8" name="Google Shape;208;p21"/>
          <p:cNvCxnSpPr/>
          <p:nvPr/>
        </p:nvCxnSpPr>
        <p:spPr>
          <a:xfrm>
            <a:off x="5849538" y="3052250"/>
            <a:ext cx="556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311700" y="445025"/>
            <a:ext cx="85206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Models Evaluated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Choosing the right algorithm for a rare-fraud problem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311700" y="1624775"/>
            <a:ext cx="4086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Logistic Regression (LR)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311700" y="3203976"/>
            <a:ext cx="4086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Linear Discriminant Analysis (LDA)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311700" y="2374575"/>
            <a:ext cx="4086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K-Nearest Neighbors (KNN)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311700" y="4018575"/>
            <a:ext cx="40860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Quadratic Discriminant Analysis (QDA)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9144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93100" y="4435975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2"/>
          <p:cNvCxnSpPr/>
          <p:nvPr/>
        </p:nvCxnSpPr>
        <p:spPr>
          <a:xfrm>
            <a:off x="393100" y="3617750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2"/>
          <p:cNvCxnSpPr/>
          <p:nvPr/>
        </p:nvCxnSpPr>
        <p:spPr>
          <a:xfrm>
            <a:off x="393100" y="2799525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2"/>
          <p:cNvCxnSpPr/>
          <p:nvPr/>
        </p:nvCxnSpPr>
        <p:spPr>
          <a:xfrm>
            <a:off x="393100" y="2053675"/>
            <a:ext cx="8227800" cy="0"/>
          </a:xfrm>
          <a:prstGeom prst="straightConnector1">
            <a:avLst/>
          </a:prstGeom>
          <a:noFill/>
          <a:ln cap="flat" cmpd="sng" w="9525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/>
        </p:nvSpPr>
        <p:spPr>
          <a:xfrm>
            <a:off x="3640675" y="2046350"/>
            <a:ext cx="50619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transparent baseline that ensures rare fraud cases aren’t ignored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3323175" y="2817700"/>
            <a:ext cx="5379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captures unusual fraud patterns without any </a:t>
            </a: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data‑shape </a:t>
            </a: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assumptions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293900" y="3617748"/>
            <a:ext cx="4538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checks to see how strict assumptions affect performance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940025" y="4435975"/>
            <a:ext cx="4944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flexible model that lets each class have its own shape/variance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/>
          <p:nvPr/>
        </p:nvSpPr>
        <p:spPr>
          <a:xfrm>
            <a:off x="4824900" y="3034200"/>
            <a:ext cx="3742800" cy="3144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4824850" y="1679600"/>
            <a:ext cx="3742800" cy="807600"/>
          </a:xfrm>
          <a:prstGeom prst="roundRect">
            <a:avLst>
              <a:gd fmla="val 16667" name="adj"/>
            </a:avLst>
          </a:prstGeom>
          <a:solidFill>
            <a:srgbClr val="E3E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3" title="Screenshot 2026-08-28 at 2.13.15 PM.png"/>
          <p:cNvPicPr preferRelativeResize="0"/>
          <p:nvPr/>
        </p:nvPicPr>
        <p:blipFill rotWithShape="1">
          <a:blip r:embed="rId3">
            <a:alphaModFix/>
          </a:blip>
          <a:srcRect b="0" l="3695" r="3686" t="0"/>
          <a:stretch/>
        </p:blipFill>
        <p:spPr>
          <a:xfrm>
            <a:off x="485059" y="1402518"/>
            <a:ext cx="3836099" cy="359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>
            <p:ph type="title"/>
          </p:nvPr>
        </p:nvSpPr>
        <p:spPr>
          <a:xfrm>
            <a:off x="308600" y="445025"/>
            <a:ext cx="86088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Model Performance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KNN - </a:t>
            </a: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the best balance of precision and recall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4909300" y="1662250"/>
            <a:ext cx="36582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KNN has the highest PR-AUC (0.841)</a:t>
            </a:r>
            <a:endParaRPr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It catches fraud while keeping false alarms low</a:t>
            </a:r>
            <a:endParaRPr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aphicFrame>
        <p:nvGraphicFramePr>
          <p:cNvPr id="235" name="Google Shape;235;p23"/>
          <p:cNvGraphicFramePr/>
          <p:nvPr/>
        </p:nvGraphicFramePr>
        <p:xfrm>
          <a:off x="4824763" y="30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{FD1E81DD-438F-4CEA-A41B-B705CBAD04C1}</a:tableStyleId>
              </a:tblPr>
              <a:tblGrid>
                <a:gridCol w="528700"/>
                <a:gridCol w="642800"/>
                <a:gridCol w="642800"/>
                <a:gridCol w="642800"/>
                <a:gridCol w="642800"/>
                <a:gridCol w="6428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 b="1" sz="10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0.806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0.854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0.944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761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</a:t>
                      </a:r>
                      <a:endParaRPr b="1" sz="1000">
                        <a:solidFill>
                          <a:srgbClr val="1761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0.908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0.106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0.972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0.714</a:t>
                      </a:r>
                      <a:endParaRPr sz="1000">
                        <a:solidFill>
                          <a:srgbClr val="B7B7B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0.823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0.806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0.814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0.981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0.708</a:t>
                      </a:r>
                      <a:endParaRPr sz="10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QDA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0.061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0.114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0.964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0.144</a:t>
                      </a:r>
                      <a:endParaRPr sz="1000">
                        <a:solidFill>
                          <a:srgbClr val="2D2D2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6" name="Google Shape;236;p23"/>
          <p:cNvCxnSpPr/>
          <p:nvPr/>
        </p:nvCxnSpPr>
        <p:spPr>
          <a:xfrm>
            <a:off x="4829075" y="3662850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3"/>
          <p:cNvCxnSpPr/>
          <p:nvPr/>
        </p:nvCxnSpPr>
        <p:spPr>
          <a:xfrm>
            <a:off x="4829075" y="3977175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3"/>
          <p:cNvCxnSpPr/>
          <p:nvPr/>
        </p:nvCxnSpPr>
        <p:spPr>
          <a:xfrm>
            <a:off x="4829075" y="4291500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3"/>
          <p:cNvCxnSpPr/>
          <p:nvPr/>
        </p:nvCxnSpPr>
        <p:spPr>
          <a:xfrm>
            <a:off x="4829075" y="4605825"/>
            <a:ext cx="37341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789775" y="1664850"/>
            <a:ext cx="3937800" cy="10635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466325" y="2986075"/>
            <a:ext cx="3937800" cy="1659900"/>
          </a:xfrm>
          <a:prstGeom prst="roundRect">
            <a:avLst>
              <a:gd fmla="val 7082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466325" y="2986075"/>
            <a:ext cx="3937800" cy="4935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 cap="flat" cmpd="sng" w="9525">
            <a:solidFill>
              <a:srgbClr val="176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 txBox="1"/>
          <p:nvPr>
            <p:ph type="title"/>
          </p:nvPr>
        </p:nvSpPr>
        <p:spPr>
          <a:xfrm>
            <a:off x="308600" y="445025"/>
            <a:ext cx="8608800" cy="9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Model Performance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KNN - the best balance of precision and recall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graphicFrame>
        <p:nvGraphicFramePr>
          <p:cNvPr id="248" name="Google Shape;248;p24"/>
          <p:cNvGraphicFramePr/>
          <p:nvPr/>
        </p:nvGraphicFramePr>
        <p:xfrm>
          <a:off x="520992" y="298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{FD1E81DD-438F-4CEA-A41B-B705CBAD04C1}</a:tableStyleId>
              </a:tblPr>
              <a:tblGrid>
                <a:gridCol w="519125"/>
                <a:gridCol w="841025"/>
                <a:gridCol w="841025"/>
                <a:gridCol w="841025"/>
                <a:gridCol w="841025"/>
              </a:tblGrid>
              <a:tr h="49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Positives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Negatives</a:t>
                      </a:r>
                      <a:endParaRPr b="1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761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56,856</a:t>
                      </a:r>
                      <a:endParaRPr b="1" sz="1100">
                        <a:solidFill>
                          <a:srgbClr val="1761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1,492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999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55,372</a:t>
                      </a:r>
                      <a:endParaRPr sz="1100">
                        <a:solidFill>
                          <a:srgbClr val="9999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56,847</a:t>
                      </a:r>
                      <a:endParaRPr sz="1100">
                        <a:solidFill>
                          <a:srgbClr val="66666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QDA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1,327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55,537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3500" marL="63500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4"/>
          <p:cNvSpPr txBox="1"/>
          <p:nvPr/>
        </p:nvSpPr>
        <p:spPr>
          <a:xfrm>
            <a:off x="625262" y="1751925"/>
            <a:ext cx="37050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LDA 						        Fastest 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LR  						        Fast 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QDA 						        Medium 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ato Light"/>
                <a:ea typeface="Lato Light"/>
                <a:cs typeface="Lato Light"/>
                <a:sym typeface="Lato Light"/>
              </a:rPr>
              <a:t>KNN 						        Slow</a:t>
            </a:r>
            <a:endParaRPr sz="1200"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912325" y="1664875"/>
            <a:ext cx="36927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KNN delivers the fewest false positives while maintaining strong detection, making it the most reliable model for fraud detection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51" name="Google Shape;251;p24"/>
          <p:cNvCxnSpPr/>
          <p:nvPr/>
        </p:nvCxnSpPr>
        <p:spPr>
          <a:xfrm>
            <a:off x="1141525" y="1918175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4"/>
          <p:cNvCxnSpPr/>
          <p:nvPr/>
        </p:nvCxnSpPr>
        <p:spPr>
          <a:xfrm>
            <a:off x="1141525" y="2116650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4"/>
          <p:cNvCxnSpPr/>
          <p:nvPr/>
        </p:nvCxnSpPr>
        <p:spPr>
          <a:xfrm>
            <a:off x="1141525" y="2304875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4"/>
          <p:cNvCxnSpPr/>
          <p:nvPr/>
        </p:nvCxnSpPr>
        <p:spPr>
          <a:xfrm>
            <a:off x="1141525" y="2503350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5" name="Google Shape;255;p24"/>
          <p:cNvSpPr txBox="1"/>
          <p:nvPr/>
        </p:nvSpPr>
        <p:spPr>
          <a:xfrm>
            <a:off x="4912325" y="3135300"/>
            <a:ext cx="38154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Deployment Fit</a:t>
            </a:r>
            <a:endParaRPr sz="2000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LDA:  Real-time scoring (&lt;100ms)</a:t>
            </a:r>
            <a:endParaRPr sz="15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KNN:  Hourly batch re-scoring</a:t>
            </a:r>
            <a:endParaRPr sz="1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56" name="Google Shape;256;p24"/>
          <p:cNvCxnSpPr/>
          <p:nvPr/>
        </p:nvCxnSpPr>
        <p:spPr>
          <a:xfrm>
            <a:off x="4988092" y="3666125"/>
            <a:ext cx="239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-6300" y="3940975"/>
            <a:ext cx="86922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-6300" y="2437950"/>
            <a:ext cx="85206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>
            <p:ph type="title"/>
          </p:nvPr>
        </p:nvSpPr>
        <p:spPr>
          <a:xfrm>
            <a:off x="311700" y="445025"/>
            <a:ext cx="85206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Impact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Translating model accuracy into bottom-line saving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415500" y="1897622"/>
            <a:ext cx="3153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75" lIns="64775" spcFirstLastPara="1" rIns="64775" wrap="square" tIns="647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$10,312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92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Net savings on a sample of recent transactions</a:t>
            </a:r>
            <a:endParaRPr sz="1792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415500" y="3403900"/>
            <a:ext cx="2896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$50,000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Projected savings across a full 48-hour window</a:t>
            </a:r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3441925" y="2433225"/>
            <a:ext cx="8400" cy="2217000"/>
          </a:xfrm>
          <a:prstGeom prst="straightConnector1">
            <a:avLst/>
          </a:prstGeom>
          <a:noFill/>
          <a:ln cap="flat" cmpd="sng" w="2286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7" name="Google Shape;267;p25" title="download-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2471" y="1940680"/>
            <a:ext cx="5269801" cy="30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/>
          <p:nvPr/>
        </p:nvSpPr>
        <p:spPr>
          <a:xfrm>
            <a:off x="-6300" y="3940982"/>
            <a:ext cx="92175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-6300" y="2437947"/>
            <a:ext cx="9144000" cy="70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 txBox="1"/>
          <p:nvPr>
            <p:ph type="title"/>
          </p:nvPr>
        </p:nvSpPr>
        <p:spPr>
          <a:xfrm>
            <a:off x="311700" y="445025"/>
            <a:ext cx="85206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Impact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Translating model accuracy into bottom-line saving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415500" y="1897622"/>
            <a:ext cx="3153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4775" lIns="64775" spcFirstLastPara="1" rIns="64775" wrap="square" tIns="647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$10,312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92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Net savings on a sample of recent transactions</a:t>
            </a:r>
            <a:endParaRPr sz="1792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3744625" y="2093900"/>
            <a:ext cx="51549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250" lIns="71250" spcFirstLastPara="1" rIns="71250" wrap="square" tIns="71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Threshold Optimization</a:t>
            </a:r>
            <a:endParaRPr b="1" sz="186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69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Adjusted the fraud cutoff to catch more fraud without </a:t>
            </a:r>
            <a:endParaRPr sz="166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69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Optimal cutoff   0.159</a:t>
            </a:r>
            <a:endParaRPr sz="166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0" y="4751250"/>
            <a:ext cx="914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D2D2D"/>
                </a:solidFill>
                <a:latin typeface="Lato Hairline"/>
                <a:ea typeface="Lato Hairline"/>
                <a:cs typeface="Lato Hairline"/>
                <a:sym typeface="Lato Hairline"/>
              </a:rPr>
              <a:t>Based on an average fraud loss of $122.21 and an estimated $5.00 cost per manual review</a:t>
            </a:r>
            <a:endParaRPr sz="1900">
              <a:solidFill>
                <a:schemeClr val="dk2"/>
              </a:solidFill>
              <a:latin typeface="Lato Hairline"/>
              <a:ea typeface="Lato Hairline"/>
              <a:cs typeface="Lato Hairline"/>
              <a:sym typeface="Lato Hairline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415500" y="3403900"/>
            <a:ext cx="2896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$50,000</a:t>
            </a:r>
            <a:endParaRPr sz="3000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Projected savings across a full 48-hour window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3744625" y="3564650"/>
            <a:ext cx="49773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math</a:t>
            </a:r>
            <a:endParaRPr b="1" sz="1869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69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Fraud losses prevented minus the cost of reviewing flagged transactions</a:t>
            </a:r>
            <a:endParaRPr/>
          </a:p>
        </p:txBody>
      </p:sp>
      <p:cxnSp>
        <p:nvCxnSpPr>
          <p:cNvPr id="280" name="Google Shape;280;p26"/>
          <p:cNvCxnSpPr/>
          <p:nvPr/>
        </p:nvCxnSpPr>
        <p:spPr>
          <a:xfrm>
            <a:off x="3441925" y="2433225"/>
            <a:ext cx="8400" cy="2217000"/>
          </a:xfrm>
          <a:prstGeom prst="straightConnector1">
            <a:avLst/>
          </a:prstGeom>
          <a:noFill/>
          <a:ln cap="flat" cmpd="sng" w="2286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6"/>
          <p:cNvSpPr txBox="1"/>
          <p:nvPr/>
        </p:nvSpPr>
        <p:spPr>
          <a:xfrm>
            <a:off x="3744625" y="1555325"/>
            <a:ext cx="300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981">
                <a:solidFill>
                  <a:srgbClr val="176161"/>
                </a:solidFill>
                <a:latin typeface="Lato Black"/>
                <a:ea typeface="Lato Black"/>
                <a:cs typeface="Lato Black"/>
                <a:sym typeface="Lato Black"/>
              </a:rPr>
              <a:t>Calculation Logic</a:t>
            </a:r>
            <a:endParaRPr sz="1981">
              <a:solidFill>
                <a:srgbClr val="17616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/>
          <p:nvPr/>
        </p:nvSpPr>
        <p:spPr>
          <a:xfrm>
            <a:off x="6029200" y="4255325"/>
            <a:ext cx="2625000" cy="482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2930404" y="3772700"/>
            <a:ext cx="2595600" cy="482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379200" y="3290075"/>
            <a:ext cx="2109300" cy="482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4864350" y="1777550"/>
            <a:ext cx="3766200" cy="8724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446950" y="1800275"/>
            <a:ext cx="3766200" cy="8724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 txBox="1"/>
          <p:nvPr>
            <p:ph type="title"/>
          </p:nvPr>
        </p:nvSpPr>
        <p:spPr>
          <a:xfrm>
            <a:off x="311700" y="445025"/>
            <a:ext cx="8520600" cy="10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Deployment Strategy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From model training to real-time prevention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419975" y="1783500"/>
            <a:ext cx="3793200" cy="8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5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Real-time path</a:t>
            </a:r>
            <a:endParaRPr b="1" sz="15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Score every transaction in real time </a:t>
            </a:r>
            <a:endParaRPr sz="12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LDA delivers sub-100 ms decisions at the point of sale</a:t>
            </a:r>
            <a:endParaRPr sz="10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3" name="Google Shape;293;p27"/>
          <p:cNvSpPr txBox="1"/>
          <p:nvPr>
            <p:ph idx="1" type="body"/>
          </p:nvPr>
        </p:nvSpPr>
        <p:spPr>
          <a:xfrm>
            <a:off x="4864350" y="1780475"/>
            <a:ext cx="3766200" cy="8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6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1" lang="en" sz="16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ffline path</a:t>
            </a:r>
            <a:endParaRPr b="1" sz="12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KNN re-scores recent transactions to catch fraud the real-time model missed</a:t>
            </a:r>
            <a:endParaRPr sz="10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4" name="Google Shape;294;p27"/>
          <p:cNvSpPr txBox="1"/>
          <p:nvPr>
            <p:ph idx="1" type="body"/>
          </p:nvPr>
        </p:nvSpPr>
        <p:spPr>
          <a:xfrm>
            <a:off x="285450" y="2908425"/>
            <a:ext cx="2496600" cy="10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Serialization and integration</a:t>
            </a:r>
            <a:endParaRPr b="1" sz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Save  the trained model and the fitted StandardScaler together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5" name="Google Shape;295;p27"/>
          <p:cNvSpPr txBox="1"/>
          <p:nvPr>
            <p:ph idx="1" type="body"/>
          </p:nvPr>
        </p:nvSpPr>
        <p:spPr>
          <a:xfrm>
            <a:off x="5945300" y="3952725"/>
            <a:ext cx="2867400" cy="9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Monitoring and retraining</a:t>
            </a:r>
            <a:endParaRPr b="1" sz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Track live accuracy, detect when fraud patterns shift, and retrain monthly or on detected drift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96" name="Google Shape;296;p27"/>
          <p:cNvCxnSpPr/>
          <p:nvPr/>
        </p:nvCxnSpPr>
        <p:spPr>
          <a:xfrm>
            <a:off x="380675" y="3290075"/>
            <a:ext cx="8249700" cy="0"/>
          </a:xfrm>
          <a:prstGeom prst="straightConnector1">
            <a:avLst/>
          </a:prstGeom>
          <a:noFill/>
          <a:ln cap="flat" cmpd="sng" w="28575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7"/>
          <p:cNvSpPr txBox="1"/>
          <p:nvPr>
            <p:ph idx="1" type="body"/>
          </p:nvPr>
        </p:nvSpPr>
        <p:spPr>
          <a:xfrm>
            <a:off x="2821375" y="3290075"/>
            <a:ext cx="3105600" cy="115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Tunable decision line</a:t>
            </a:r>
            <a:endParaRPr b="1" sz="1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The fraud cutoff is a business setting adjusted as review capacity or fraud costs change</a:t>
            </a:r>
            <a:endParaRPr sz="10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98" name="Google Shape;298;p27"/>
          <p:cNvCxnSpPr/>
          <p:nvPr/>
        </p:nvCxnSpPr>
        <p:spPr>
          <a:xfrm>
            <a:off x="2929315" y="3772689"/>
            <a:ext cx="5701200" cy="0"/>
          </a:xfrm>
          <a:prstGeom prst="straightConnector1">
            <a:avLst/>
          </a:prstGeom>
          <a:noFill/>
          <a:ln cap="flat" cmpd="sng" w="19050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7"/>
          <p:cNvCxnSpPr/>
          <p:nvPr/>
        </p:nvCxnSpPr>
        <p:spPr>
          <a:xfrm>
            <a:off x="6028125" y="4255300"/>
            <a:ext cx="2602500" cy="0"/>
          </a:xfrm>
          <a:prstGeom prst="straightConnector1">
            <a:avLst/>
          </a:prstGeom>
          <a:noFill/>
          <a:ln cap="flat" cmpd="sng" w="9525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/>
          <p:nvPr/>
        </p:nvSpPr>
        <p:spPr>
          <a:xfrm>
            <a:off x="0" y="1976836"/>
            <a:ext cx="9177600" cy="1125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280700" y="3556375"/>
            <a:ext cx="4113600" cy="11733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"/>
          <p:cNvSpPr txBox="1"/>
          <p:nvPr>
            <p:ph idx="1" type="body"/>
          </p:nvPr>
        </p:nvSpPr>
        <p:spPr>
          <a:xfrm>
            <a:off x="311700" y="1565525"/>
            <a:ext cx="4455300" cy="17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17616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We Learned</a:t>
            </a:r>
            <a:endParaRPr b="1" sz="1700">
              <a:solidFill>
                <a:srgbClr val="17616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</a:t>
            </a: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KNN has the highest PR-AUC (0.841)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LDA is fastest (&lt;100ms)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LR and QDA: too many false alarms (1,000+) for operations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Default 0.5 threshold is NOT optimal</a:t>
            </a:r>
            <a:endParaRPr/>
          </a:p>
        </p:txBody>
      </p:sp>
      <p:sp>
        <p:nvSpPr>
          <p:cNvPr id="307" name="Google Shape;307;p28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Lessons Learned and Recommendations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 Light"/>
                <a:ea typeface="Lato Light"/>
                <a:cs typeface="Lato Light"/>
                <a:sym typeface="Lato Light"/>
              </a:rPr>
              <a:t>Roadmap for improving model accuracy and business value </a:t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4822325" y="1565525"/>
            <a:ext cx="40101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17616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Next Steps</a:t>
            </a:r>
            <a:endParaRPr b="1" sz="1700">
              <a:solidFill>
                <a:srgbClr val="17616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Try XGBoost, Random Forest, Neural Net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Test SMOTE / ADASYN instead of class weights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Replace $5 placeholder with real review costs</a:t>
            </a:r>
            <a:b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200">
                <a:solidFill>
                  <a:srgbClr val="0F1115"/>
                </a:solidFill>
                <a:latin typeface="Lato Light"/>
                <a:ea typeface="Lato Light"/>
                <a:cs typeface="Lato Light"/>
                <a:sym typeface="Lato Light"/>
              </a:rPr>
              <a:t>• Tune threshold for ALL models, not just KNN</a:t>
            </a:r>
            <a:endParaRPr sz="1200">
              <a:solidFill>
                <a:srgbClr val="0F1115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413250" y="3625400"/>
            <a:ext cx="38454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Future Enhancements </a:t>
            </a:r>
            <a:endParaRPr b="1" sz="17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• Merchant codes, device fingerprinting, geolocation</a:t>
            </a:r>
            <a:b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</a:b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• Longer time window (beyond 48 hours)</a:t>
            </a:r>
            <a:endParaRPr sz="13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4822325" y="3556350"/>
            <a:ext cx="4113600" cy="1173300"/>
          </a:xfrm>
          <a:prstGeom prst="roundRect">
            <a:avLst>
              <a:gd fmla="val 16667" name="adj"/>
            </a:avLst>
          </a:prstGeom>
          <a:solidFill>
            <a:srgbClr val="1761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4954725" y="3625400"/>
            <a:ext cx="38454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Business Extensions</a:t>
            </a:r>
            <a:endParaRPr b="1" sz="1700">
              <a:solidFill>
                <a:srgbClr val="FAFAFA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Lato Light"/>
              <a:buChar char="●"/>
            </a:pP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Account Takeover</a:t>
            </a:r>
            <a:endParaRPr sz="1300">
              <a:solidFill>
                <a:srgbClr val="FAFAFA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Lato Light"/>
              <a:buChar char="●"/>
            </a:pPr>
            <a:r>
              <a:rPr lang="en" sz="1300">
                <a:solidFill>
                  <a:srgbClr val="FAFAFA"/>
                </a:solidFill>
                <a:latin typeface="Lato Light"/>
                <a:ea typeface="Lato Light"/>
                <a:cs typeface="Lato Light"/>
                <a:sym typeface="Lato Light"/>
              </a:rPr>
              <a:t>Anti-Money Laundering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12" name="Google Shape;312;p28"/>
          <p:cNvCxnSpPr/>
          <p:nvPr/>
        </p:nvCxnSpPr>
        <p:spPr>
          <a:xfrm>
            <a:off x="-8350" y="1960225"/>
            <a:ext cx="9162900" cy="0"/>
          </a:xfrm>
          <a:prstGeom prst="straightConnector1">
            <a:avLst/>
          </a:prstGeom>
          <a:noFill/>
          <a:ln cap="flat" cmpd="sng" w="38100">
            <a:solidFill>
              <a:srgbClr val="17616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/>
          <p:nvPr>
            <p:ph type="title"/>
          </p:nvPr>
        </p:nvSpPr>
        <p:spPr>
          <a:xfrm>
            <a:off x="311700" y="445025"/>
            <a:ext cx="8520600" cy="13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Sources</a:t>
            </a:r>
            <a:endParaRPr sz="3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18" name="Google Shape;318;p29"/>
          <p:cNvSpPr txBox="1"/>
          <p:nvPr>
            <p:ph idx="1" type="body"/>
          </p:nvPr>
        </p:nvSpPr>
        <p:spPr>
          <a:xfrm>
            <a:off x="311700" y="1351550"/>
            <a:ext cx="85206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Kaggle Dataset: Machine Learning Group – ULB. “Credit Card Fraud Detection.” </a:t>
            </a:r>
            <a:r>
              <a:rPr lang="en" sz="1900" u="sng">
                <a:solidFill>
                  <a:srgbClr val="176161"/>
                </a:solidFill>
                <a:latin typeface="Lato Light"/>
                <a:ea typeface="Lato Light"/>
                <a:cs typeface="Lato Light"/>
                <a:sym typeface="Lat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https://www.kaggle.com/datasets/mlg-ulb/creditcardfraud</a:t>
            </a:r>
            <a:endParaRPr sz="1900">
              <a:solidFill>
                <a:srgbClr val="17616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Dal Pozzolo, A., Caelen, O., Johnson, R. A., &amp; Bontempi, G. (2015). “Calibrating Probability with Undersampling for Unbalanced Classification.” IEEE Symposium Series on Computational Intelligence (SSCI).</a:t>
            </a:r>
            <a:endParaRPr sz="19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Icons: </a:t>
            </a:r>
            <a:r>
              <a:rPr lang="en" sz="1900" u="sng">
                <a:solidFill>
                  <a:srgbClr val="176161"/>
                </a:solidFill>
                <a:latin typeface="Lato Light"/>
                <a:ea typeface="Lato Light"/>
                <a:cs typeface="Lato Light"/>
                <a:sym typeface="La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https://fonts.google.com/icons</a:t>
            </a:r>
            <a:endParaRPr>
              <a:solidFill>
                <a:srgbClr val="176161"/>
              </a:solidFill>
            </a:endParaRPr>
          </a:p>
        </p:txBody>
      </p:sp>
      <p:cxnSp>
        <p:nvCxnSpPr>
          <p:cNvPr id="319" name="Google Shape;319;p29"/>
          <p:cNvCxnSpPr>
            <a:stCxn id="317" idx="1"/>
          </p:cNvCxnSpPr>
          <p:nvPr/>
        </p:nvCxnSpPr>
        <p:spPr>
          <a:xfrm>
            <a:off x="311700" y="1119575"/>
            <a:ext cx="8307300" cy="0"/>
          </a:xfrm>
          <a:prstGeom prst="straightConnector1">
            <a:avLst/>
          </a:prstGeom>
          <a:noFill/>
          <a:ln cap="flat" cmpd="sng" w="19050">
            <a:solidFill>
              <a:srgbClr val="17616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