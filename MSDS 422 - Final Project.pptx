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embeddedFontLst>
    <p:embeddedFont>
      <p:font typeface="Lato" panose="020F0502020204030203" pitchFamily="34" charset="0"/>
      <p:regular r:id="rId20"/>
      <p:bold r:id="rId21"/>
      <p:italic r:id="rId22"/>
    </p:embeddedFont>
    <p:embeddedFont>
      <p:font typeface="Lato Black" panose="020F0502020204030203" pitchFamily="34" charset="0"/>
      <p:bold r:id="rId23"/>
    </p:embeddedFont>
    <p:embeddedFont>
      <p:font typeface="Lato Hairline" panose="020F0202020204030203" pitchFamily="34" charset="77"/>
      <p:regular r:id="rId24"/>
      <p:bold r:id="rId25"/>
      <p:italic r:id="rId26"/>
      <p:boldItalic r:id="rId27"/>
    </p:embeddedFont>
    <p:embeddedFont>
      <p:font typeface="Lato Light" panose="020F0502020204030203" pitchFamily="34" charset="0"/>
      <p:regular r:id="rId28"/>
      <p:italic r:id="rId29"/>
    </p:embeddedFont>
    <p:embeddedFont>
      <p:font typeface="Playfair Display" pitchFamily="2" charset="77"/>
      <p:regular r:id="rId30"/>
      <p:bold r:id="rId31"/>
    </p:embeddedFont>
    <p:embeddedFont>
      <p:font typeface="Playfair Display Medium" pitchFamily="2" charset="77"/>
      <p:regular r:id="rId32"/>
      <p:bold r:id="rId33"/>
      <p:italic r:id="rId34"/>
      <p:boldItalic r:id="rId35"/>
    </p:embeddedFont>
    <p:embeddedFont>
      <p:font typeface="Playfair Display SemiBold"/>
      <p:regular r:id="rId36"/>
      <p:bold r:id="rId37"/>
      <p:italic r:id="rId38"/>
      <p:boldItalic r:id="rId3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0E093DD-0024-4F0C-8D27-423A577BA0CF}">
  <a:tblStyle styleId="{F0E093DD-0024-4F0C-8D27-423A577BA0CF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711"/>
    <p:restoredTop sz="94663"/>
  </p:normalViewPr>
  <p:slideViewPr>
    <p:cSldViewPr snapToGrid="0">
      <p:cViewPr varScale="1">
        <p:scale>
          <a:sx n="125" d="100"/>
          <a:sy n="125" d="100"/>
        </p:scale>
        <p:origin x="160" y="67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7.fntdata"/><Relationship Id="rId39" Type="http://schemas.openxmlformats.org/officeDocument/2006/relationships/font" Target="fonts/font20.fntdata"/><Relationship Id="rId21" Type="http://schemas.openxmlformats.org/officeDocument/2006/relationships/font" Target="fonts/font2.fntdata"/><Relationship Id="rId34" Type="http://schemas.openxmlformats.org/officeDocument/2006/relationships/font" Target="fonts/font15.fntdata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1.fntdata"/><Relationship Id="rId29" Type="http://schemas.openxmlformats.org/officeDocument/2006/relationships/font" Target="fonts/font10.fntdata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5.fntdata"/><Relationship Id="rId32" Type="http://schemas.openxmlformats.org/officeDocument/2006/relationships/font" Target="fonts/font13.fntdata"/><Relationship Id="rId37" Type="http://schemas.openxmlformats.org/officeDocument/2006/relationships/font" Target="fonts/font18.fntdata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4.fntdata"/><Relationship Id="rId28" Type="http://schemas.openxmlformats.org/officeDocument/2006/relationships/font" Target="fonts/font9.fntdata"/><Relationship Id="rId36" Type="http://schemas.openxmlformats.org/officeDocument/2006/relationships/font" Target="fonts/font17.fntdata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31" Type="http://schemas.openxmlformats.org/officeDocument/2006/relationships/font" Target="fonts/font1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3.fntdata"/><Relationship Id="rId27" Type="http://schemas.openxmlformats.org/officeDocument/2006/relationships/font" Target="fonts/font8.fntdata"/><Relationship Id="rId30" Type="http://schemas.openxmlformats.org/officeDocument/2006/relationships/font" Target="fonts/font11.fntdata"/><Relationship Id="rId35" Type="http://schemas.openxmlformats.org/officeDocument/2006/relationships/font" Target="fonts/font16.fntdata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6.fntdata"/><Relationship Id="rId33" Type="http://schemas.openxmlformats.org/officeDocument/2006/relationships/font" Target="fonts/font14.fntdata"/><Relationship Id="rId38" Type="http://schemas.openxmlformats.org/officeDocument/2006/relationships/font" Target="fonts/font19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f5b2c80eb1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f5b2c80eb1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5b600326d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5b600326d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f5b99bf73b_0_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3f5b99bf73b_0_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f5b2c80eb1_0_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3f5b2c80eb1_0_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f5b2c80eb1_0_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" name="Google Shape;158;g3f5b2c80eb1_0_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3f5b2c80eb1_0_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g3f5b2c80eb1_0_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3f5b2c80eb1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8" name="Google Shape;178;g3f5b2c80eb1_0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3f40c9322b0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" name="Google Shape;195;g3f40c9322b0_0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3f40c9322b0_0_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1" name="Google Shape;211;g3f40c9322b0_0_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3f40c9322b0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3f40c9322b0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g3f40c9322b0_0_2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2" name="Google Shape;242;g3f40c9322b0_0_2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g3f40c9322b0_0_2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9" name="Google Shape;259;g3f40c9322b0_0_29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g3f40c9322b0_0_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0" name="Google Shape;270;g3f40c9322b0_0_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g3f40c9322b0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4" name="Google Shape;284;g3f40c9322b0_0_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g3f40c9322b0_0_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2" name="Google Shape;302;g3f40c9322b0_0_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g3f5be78f5e1_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4" name="Google Shape;314;g3f5be78f5e1_2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gif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datasets/mlg-ulb/creditcardfraud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fonts.google.com/icons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600">
                <a:solidFill>
                  <a:srgbClr val="176160"/>
                </a:solidFill>
              </a:rPr>
              <a:t>Credit Card Fraud Detection</a:t>
            </a:r>
            <a:endParaRPr sz="4600">
              <a:solidFill>
                <a:srgbClr val="176160"/>
              </a:solidFill>
            </a:endParaRP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153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Lato Light"/>
                <a:ea typeface="Lato Light"/>
                <a:cs typeface="Lato Light"/>
                <a:sym typeface="Lato Light"/>
              </a:rPr>
              <a:t>Shelagh Haney, Ryenn McAdory, Andrea Scherben </a:t>
            </a:r>
            <a:endParaRPr sz="1800">
              <a:solidFill>
                <a:schemeClr val="dk1"/>
              </a:solidFill>
              <a:latin typeface="Lato Light"/>
              <a:ea typeface="Lato Light"/>
              <a:cs typeface="Lato Light"/>
              <a:sym typeface="Lato Light"/>
            </a:endParaRPr>
          </a:p>
          <a:p>
            <a:pPr marL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  <a:latin typeface="Lato Light"/>
                <a:ea typeface="Lato Light"/>
                <a:cs typeface="Lato Light"/>
                <a:sym typeface="Lato Light"/>
              </a:rPr>
              <a:t>Northwestern University | MSDS 422</a:t>
            </a:r>
            <a:endParaRPr sz="3600">
              <a:solidFill>
                <a:schemeClr val="dk1"/>
              </a:solidFill>
              <a:latin typeface="Lato Light"/>
              <a:ea typeface="Lato Light"/>
              <a:cs typeface="Lato Light"/>
              <a:sym typeface="Lato Light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/>
          <p:nvPr/>
        </p:nvSpPr>
        <p:spPr>
          <a:xfrm>
            <a:off x="410314" y="2111304"/>
            <a:ext cx="2227200" cy="2339100"/>
          </a:xfrm>
          <a:prstGeom prst="roundRect">
            <a:avLst>
              <a:gd name="adj" fmla="val 16667"/>
            </a:avLst>
          </a:prstGeom>
          <a:solidFill>
            <a:srgbClr val="FAFAFA"/>
          </a:solidFill>
          <a:ln w="9525" cap="flat" cmpd="sng">
            <a:solidFill>
              <a:srgbClr val="17616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6506475" y="2111304"/>
            <a:ext cx="2227200" cy="2339100"/>
          </a:xfrm>
          <a:prstGeom prst="roundRect">
            <a:avLst>
              <a:gd name="adj" fmla="val 16667"/>
            </a:avLst>
          </a:prstGeom>
          <a:solidFill>
            <a:srgbClr val="FAFAFA"/>
          </a:solidFill>
          <a:ln w="9525" cap="flat" cmpd="sng">
            <a:solidFill>
              <a:srgbClr val="17616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62;p14"/>
          <p:cNvSpPr/>
          <p:nvPr/>
        </p:nvSpPr>
        <p:spPr>
          <a:xfrm>
            <a:off x="3458400" y="2111304"/>
            <a:ext cx="2227200" cy="2339100"/>
          </a:xfrm>
          <a:prstGeom prst="roundRect">
            <a:avLst>
              <a:gd name="adj" fmla="val 16667"/>
            </a:avLst>
          </a:prstGeom>
          <a:solidFill>
            <a:srgbClr val="FAFAFA"/>
          </a:solidFill>
          <a:ln w="9525" cap="flat" cmpd="sng">
            <a:solidFill>
              <a:srgbClr val="17616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63;p14"/>
          <p:cNvSpPr txBox="1">
            <a:spLocks noGrp="1"/>
          </p:cNvSpPr>
          <p:nvPr>
            <p:ph type="body" idx="1"/>
          </p:nvPr>
        </p:nvSpPr>
        <p:spPr>
          <a:xfrm>
            <a:off x="389225" y="2245525"/>
            <a:ext cx="2227200" cy="220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rPr>
              <a:t>The Problem</a:t>
            </a:r>
            <a:endParaRPr>
              <a:solidFill>
                <a:srgbClr val="000000"/>
              </a:solidFill>
              <a:latin typeface="Playfair Display SemiBold"/>
              <a:ea typeface="Playfair Display SemiBold"/>
              <a:cs typeface="Playfair Display SemiBold"/>
              <a:sym typeface="Playfair Display SemiBold"/>
            </a:endParaRPr>
          </a:p>
          <a:p>
            <a:pPr marL="91440" lvl="0" indent="0" algn="l" rtl="0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latin typeface="Lato Light"/>
                <a:ea typeface="Lato Light"/>
                <a:cs typeface="Lato Light"/>
                <a:sym typeface="Lato Light"/>
              </a:rPr>
              <a:t>Fraudulent transactions are incredibly rare, but missing them carries massive financial and reputational risk</a:t>
            </a:r>
            <a:endParaRPr sz="1700">
              <a:solidFill>
                <a:srgbClr val="000000"/>
              </a:solidFill>
              <a:latin typeface="Lato Light"/>
              <a:ea typeface="Lato Light"/>
              <a:cs typeface="Lato Light"/>
              <a:sym typeface="Lato Light"/>
            </a:endParaRPr>
          </a:p>
        </p:txBody>
      </p:sp>
      <p:sp>
        <p:nvSpPr>
          <p:cNvPr id="64" name="Google Shape;64;p1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13491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latin typeface="Playfair Display Medium"/>
                <a:ea typeface="Playfair Display Medium"/>
                <a:cs typeface="Playfair Display Medium"/>
                <a:sym typeface="Playfair Display Medium"/>
              </a:rPr>
              <a:t>Executive Summary</a:t>
            </a:r>
            <a:endParaRPr sz="3000">
              <a:latin typeface="Playfair Display Medium"/>
              <a:ea typeface="Playfair Display Medium"/>
              <a:cs typeface="Playfair Display Medium"/>
              <a:sym typeface="Playfair Display Mediu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latin typeface="Lato Light"/>
                <a:ea typeface="Lato Light"/>
                <a:cs typeface="Lato Light"/>
                <a:sym typeface="Lato Light"/>
              </a:rPr>
              <a:t>Designing a Machine Learning pipeline to identify real-time financial fraud while minimizing false-alarms</a:t>
            </a:r>
            <a:endParaRPr sz="2000">
              <a:latin typeface="Lato Light"/>
              <a:ea typeface="Lato Light"/>
              <a:cs typeface="Lato Light"/>
              <a:sym typeface="Lato Light"/>
            </a:endParaRPr>
          </a:p>
        </p:txBody>
      </p:sp>
      <p:sp>
        <p:nvSpPr>
          <p:cNvPr id="65" name="Google Shape;65;p14"/>
          <p:cNvSpPr txBox="1">
            <a:spLocks noGrp="1"/>
          </p:cNvSpPr>
          <p:nvPr>
            <p:ph type="body" idx="1"/>
          </p:nvPr>
        </p:nvSpPr>
        <p:spPr>
          <a:xfrm>
            <a:off x="3458400" y="2245600"/>
            <a:ext cx="2227200" cy="220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rPr>
              <a:t>The Process </a:t>
            </a:r>
            <a:endParaRPr>
              <a:solidFill>
                <a:srgbClr val="000000"/>
              </a:solidFill>
              <a:latin typeface="Playfair Display SemiBold"/>
              <a:ea typeface="Playfair Display SemiBold"/>
              <a:cs typeface="Playfair Display SemiBold"/>
              <a:sym typeface="Playfair Display SemiBold"/>
            </a:endParaRPr>
          </a:p>
          <a:p>
            <a:pPr marL="91440" lvl="0" indent="0" algn="l" rtl="0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latin typeface="Lato Light"/>
                <a:ea typeface="Lato Light"/>
                <a:cs typeface="Lato Light"/>
                <a:sym typeface="Lato Light"/>
              </a:rPr>
              <a:t>Reviewed the data structure, transformed data, and prepared the dataset for machine learning models</a:t>
            </a:r>
            <a:endParaRPr sz="1700">
              <a:solidFill>
                <a:srgbClr val="000000"/>
              </a:solidFill>
              <a:latin typeface="Lato Light"/>
              <a:ea typeface="Lato Light"/>
              <a:cs typeface="Lato Light"/>
              <a:sym typeface="Lato Light"/>
            </a:endParaRPr>
          </a:p>
        </p:txBody>
      </p:sp>
      <p:sp>
        <p:nvSpPr>
          <p:cNvPr id="66" name="Google Shape;66;p14"/>
          <p:cNvSpPr txBox="1">
            <a:spLocks noGrp="1"/>
          </p:cNvSpPr>
          <p:nvPr>
            <p:ph type="body" idx="1"/>
          </p:nvPr>
        </p:nvSpPr>
        <p:spPr>
          <a:xfrm>
            <a:off x="6506475" y="2276675"/>
            <a:ext cx="2227200" cy="217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rgbClr val="000000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The Solution</a:t>
            </a:r>
            <a:endParaRPr b="1">
              <a:solidFill>
                <a:srgbClr val="000000"/>
              </a:solidFill>
              <a:latin typeface="Playfair Display"/>
              <a:ea typeface="Playfair Display"/>
              <a:cs typeface="Playfair Display"/>
              <a:sym typeface="Playfair Display"/>
            </a:endParaRPr>
          </a:p>
          <a:p>
            <a:pPr marL="9144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400">
                <a:latin typeface="Lato Light"/>
                <a:ea typeface="Lato Light"/>
                <a:cs typeface="Lato Light"/>
                <a:sym typeface="Lato Light"/>
              </a:rPr>
              <a:t>Built models that detect fraud while limiting false alarms</a:t>
            </a:r>
            <a:endParaRPr sz="1400">
              <a:latin typeface="Lato Light"/>
              <a:ea typeface="Lato Light"/>
              <a:cs typeface="Lato Light"/>
              <a:sym typeface="Lato Light"/>
            </a:endParaRPr>
          </a:p>
        </p:txBody>
      </p:sp>
      <p:cxnSp>
        <p:nvCxnSpPr>
          <p:cNvPr id="67" name="Google Shape;67;p14"/>
          <p:cNvCxnSpPr/>
          <p:nvPr/>
        </p:nvCxnSpPr>
        <p:spPr>
          <a:xfrm>
            <a:off x="610575" y="2686550"/>
            <a:ext cx="1443300" cy="0"/>
          </a:xfrm>
          <a:prstGeom prst="straightConnector1">
            <a:avLst/>
          </a:prstGeom>
          <a:noFill/>
          <a:ln w="9525" cap="flat" cmpd="sng">
            <a:solidFill>
              <a:srgbClr val="E3EBEF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8" name="Google Shape;68;p14"/>
          <p:cNvCxnSpPr/>
          <p:nvPr/>
        </p:nvCxnSpPr>
        <p:spPr>
          <a:xfrm>
            <a:off x="3657125" y="2686550"/>
            <a:ext cx="1443300" cy="0"/>
          </a:xfrm>
          <a:prstGeom prst="straightConnector1">
            <a:avLst/>
          </a:prstGeom>
          <a:noFill/>
          <a:ln w="9525" cap="flat" cmpd="sng">
            <a:solidFill>
              <a:srgbClr val="E3EBEF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9" name="Google Shape;69;p14"/>
          <p:cNvCxnSpPr/>
          <p:nvPr/>
        </p:nvCxnSpPr>
        <p:spPr>
          <a:xfrm>
            <a:off x="6740300" y="2686550"/>
            <a:ext cx="1443300" cy="0"/>
          </a:xfrm>
          <a:prstGeom prst="straightConnector1">
            <a:avLst/>
          </a:prstGeom>
          <a:noFill/>
          <a:ln w="9525" cap="flat" cmpd="sng">
            <a:solidFill>
              <a:srgbClr val="E3EBEF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0" name="Google Shape;70;p14"/>
          <p:cNvCxnSpPr/>
          <p:nvPr/>
        </p:nvCxnSpPr>
        <p:spPr>
          <a:xfrm>
            <a:off x="2769550" y="3280850"/>
            <a:ext cx="556800" cy="0"/>
          </a:xfrm>
          <a:prstGeom prst="straightConnector1">
            <a:avLst/>
          </a:prstGeom>
          <a:noFill/>
          <a:ln w="9525" cap="flat" cmpd="sng">
            <a:solidFill>
              <a:srgbClr val="176160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71" name="Google Shape;71;p14"/>
          <p:cNvCxnSpPr/>
          <p:nvPr/>
        </p:nvCxnSpPr>
        <p:spPr>
          <a:xfrm>
            <a:off x="5849538" y="3280850"/>
            <a:ext cx="556800" cy="0"/>
          </a:xfrm>
          <a:prstGeom prst="straightConnector1">
            <a:avLst/>
          </a:prstGeom>
          <a:noFill/>
          <a:ln w="9525" cap="flat" cmpd="sng">
            <a:solidFill>
              <a:srgbClr val="176160"/>
            </a:solidFill>
            <a:prstDash val="solid"/>
            <a:round/>
            <a:headEnd type="none" w="med" len="med"/>
            <a:tailEnd type="oval" w="med" len="med"/>
          </a:ln>
        </p:spPr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5"/>
          <p:cNvSpPr/>
          <p:nvPr/>
        </p:nvSpPr>
        <p:spPr>
          <a:xfrm>
            <a:off x="311700" y="4189543"/>
            <a:ext cx="8520600" cy="678900"/>
          </a:xfrm>
          <a:prstGeom prst="roundRect">
            <a:avLst>
              <a:gd name="adj" fmla="val 16667"/>
            </a:avLst>
          </a:prstGeom>
          <a:solidFill>
            <a:srgbClr val="17616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" name="Google Shape;77;p15"/>
          <p:cNvSpPr/>
          <p:nvPr/>
        </p:nvSpPr>
        <p:spPr>
          <a:xfrm>
            <a:off x="4742050" y="1662725"/>
            <a:ext cx="4113000" cy="2312100"/>
          </a:xfrm>
          <a:prstGeom prst="roundRect">
            <a:avLst>
              <a:gd name="adj" fmla="val 8001"/>
            </a:avLst>
          </a:prstGeom>
          <a:noFill/>
          <a:ln w="9525" cap="flat" cmpd="sng">
            <a:solidFill>
              <a:srgbClr val="D9D9D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" name="Google Shape;78;p15"/>
          <p:cNvSpPr/>
          <p:nvPr/>
        </p:nvSpPr>
        <p:spPr>
          <a:xfrm>
            <a:off x="288975" y="1662725"/>
            <a:ext cx="4113000" cy="2312100"/>
          </a:xfrm>
          <a:prstGeom prst="roundRect">
            <a:avLst>
              <a:gd name="adj" fmla="val 8001"/>
            </a:avLst>
          </a:prstGeom>
          <a:noFill/>
          <a:ln w="9525" cap="flat" cmpd="sng">
            <a:solidFill>
              <a:srgbClr val="D9D9D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" name="Google Shape;79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1053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3000">
                <a:latin typeface="Playfair Display SemiBold"/>
                <a:ea typeface="Playfair Display SemiBold"/>
                <a:cs typeface="Playfair Display SemiBold"/>
                <a:sym typeface="Playfair Display SemiBold"/>
              </a:rPr>
              <a:t>Why Fraud Matters</a:t>
            </a:r>
            <a:endParaRPr sz="3000">
              <a:latin typeface="Playfair Display SemiBold"/>
              <a:ea typeface="Playfair Display SemiBold"/>
              <a:cs typeface="Playfair Display SemiBold"/>
              <a:sym typeface="Playfair Display SemiBol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latin typeface="Lato Light"/>
                <a:ea typeface="Lato Light"/>
                <a:cs typeface="Lato Light"/>
                <a:sym typeface="Lato Light"/>
              </a:rPr>
              <a:t>Protect revenue, ensure compliance, and strengthen trust</a:t>
            </a:r>
            <a:endParaRPr sz="3000" b="1"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80" name="Google Shape;80;p15"/>
          <p:cNvSpPr txBox="1">
            <a:spLocks noGrp="1"/>
          </p:cNvSpPr>
          <p:nvPr>
            <p:ph type="body" idx="1"/>
          </p:nvPr>
        </p:nvSpPr>
        <p:spPr>
          <a:xfrm>
            <a:off x="1065625" y="4194743"/>
            <a:ext cx="8013900" cy="678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lt1"/>
                </a:solidFill>
                <a:latin typeface="Lato Light"/>
                <a:ea typeface="Lato Light"/>
                <a:cs typeface="Lato Light"/>
                <a:sym typeface="Lato Light"/>
              </a:rPr>
              <a:t>Effective fraud detection creates value by improving security and reducing Disruption </a:t>
            </a:r>
            <a:endParaRPr sz="1100">
              <a:solidFill>
                <a:schemeClr val="lt1"/>
              </a:solidFill>
              <a:latin typeface="Lato Light"/>
              <a:ea typeface="Lato Light"/>
              <a:cs typeface="Lato Light"/>
              <a:sym typeface="Lato Light"/>
            </a:endParaRPr>
          </a:p>
        </p:txBody>
      </p:sp>
      <p:sp>
        <p:nvSpPr>
          <p:cNvPr id="81" name="Google Shape;81;p15"/>
          <p:cNvSpPr txBox="1">
            <a:spLocks noGrp="1"/>
          </p:cNvSpPr>
          <p:nvPr>
            <p:ph type="body" idx="1"/>
          </p:nvPr>
        </p:nvSpPr>
        <p:spPr>
          <a:xfrm>
            <a:off x="6474075" y="2589850"/>
            <a:ext cx="2358300" cy="1363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Lato Light"/>
                <a:ea typeface="Lato Light"/>
                <a:cs typeface="Lato Light"/>
                <a:sym typeface="Lato Light"/>
              </a:rPr>
              <a:t>Reduce false declines</a:t>
            </a:r>
            <a:endParaRPr sz="1200">
              <a:solidFill>
                <a:schemeClr val="dk1"/>
              </a:solidFill>
              <a:latin typeface="Lato Light"/>
              <a:ea typeface="Lato Light"/>
              <a:cs typeface="Lato Light"/>
              <a:sym typeface="Lato Light"/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Lato Light"/>
                <a:ea typeface="Lato Light"/>
                <a:cs typeface="Lato Light"/>
                <a:sym typeface="Lato Light"/>
              </a:rPr>
              <a:t>Support smoother transactions</a:t>
            </a:r>
            <a:endParaRPr sz="1200">
              <a:solidFill>
                <a:schemeClr val="dk1"/>
              </a:solidFill>
              <a:latin typeface="Lato Light"/>
              <a:ea typeface="Lato Light"/>
              <a:cs typeface="Lato Light"/>
              <a:sym typeface="Lato Light"/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200">
                <a:solidFill>
                  <a:schemeClr val="dk1"/>
                </a:solidFill>
                <a:latin typeface="Lato Light"/>
                <a:ea typeface="Lato Light"/>
                <a:cs typeface="Lato Light"/>
                <a:sym typeface="Lato Light"/>
              </a:rPr>
              <a:t>Strengthen customer trust</a:t>
            </a:r>
            <a:r>
              <a:rPr lang="en" sz="1400">
                <a:solidFill>
                  <a:schemeClr val="dk1"/>
                </a:solidFill>
                <a:latin typeface="Lato Light"/>
                <a:ea typeface="Lato Light"/>
                <a:cs typeface="Lato Light"/>
                <a:sym typeface="Lato Light"/>
              </a:rPr>
              <a:t> </a:t>
            </a:r>
            <a:endParaRPr sz="1400">
              <a:solidFill>
                <a:srgbClr val="000000"/>
              </a:solidFill>
              <a:latin typeface="Playfair Display SemiBold"/>
              <a:ea typeface="Playfair Display SemiBold"/>
              <a:cs typeface="Playfair Display SemiBold"/>
              <a:sym typeface="Playfair Display SemiBold"/>
            </a:endParaRPr>
          </a:p>
        </p:txBody>
      </p:sp>
      <p:sp>
        <p:nvSpPr>
          <p:cNvPr id="82" name="Google Shape;82;p15"/>
          <p:cNvSpPr txBox="1">
            <a:spLocks noGrp="1"/>
          </p:cNvSpPr>
          <p:nvPr>
            <p:ph type="body" idx="1"/>
          </p:nvPr>
        </p:nvSpPr>
        <p:spPr>
          <a:xfrm>
            <a:off x="1841875" y="2611225"/>
            <a:ext cx="2560200" cy="1363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000000"/>
                </a:solidFill>
                <a:latin typeface="Lato Light"/>
                <a:ea typeface="Lato Light"/>
                <a:cs typeface="Lato Light"/>
                <a:sym typeface="Lato Light"/>
              </a:rPr>
              <a:t>Detect suspicious activity earlier</a:t>
            </a:r>
            <a:endParaRPr sz="1200">
              <a:solidFill>
                <a:srgbClr val="000000"/>
              </a:solidFill>
              <a:latin typeface="Lato Light"/>
              <a:ea typeface="Lato Light"/>
              <a:cs typeface="Lato Light"/>
              <a:sym typeface="Lato Light"/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000000"/>
                </a:solidFill>
                <a:latin typeface="Lato Light"/>
                <a:ea typeface="Lato Light"/>
                <a:cs typeface="Lato Light"/>
                <a:sym typeface="Lato Light"/>
              </a:rPr>
              <a:t>Lower chargebacks &amp; recovery costs</a:t>
            </a:r>
            <a:endParaRPr sz="1200">
              <a:solidFill>
                <a:srgbClr val="000000"/>
              </a:solidFill>
              <a:latin typeface="Lato Light"/>
              <a:ea typeface="Lato Light"/>
              <a:cs typeface="Lato Light"/>
              <a:sym typeface="Lato Light"/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200">
                <a:solidFill>
                  <a:srgbClr val="000000"/>
                </a:solidFill>
                <a:latin typeface="Lato Light"/>
                <a:ea typeface="Lato Light"/>
                <a:cs typeface="Lato Light"/>
                <a:sym typeface="Lato Light"/>
              </a:rPr>
              <a:t>Protect financial performance</a:t>
            </a:r>
            <a:r>
              <a:rPr lang="en" sz="1400">
                <a:solidFill>
                  <a:srgbClr val="000000"/>
                </a:solidFill>
                <a:latin typeface="Lato Light"/>
                <a:ea typeface="Lato Light"/>
                <a:cs typeface="Lato Light"/>
                <a:sym typeface="Lato Light"/>
              </a:rPr>
              <a:t>  </a:t>
            </a:r>
            <a:endParaRPr sz="1400">
              <a:solidFill>
                <a:srgbClr val="000000"/>
              </a:solidFill>
              <a:latin typeface="Lato Light"/>
              <a:ea typeface="Lato Light"/>
              <a:cs typeface="Lato Light"/>
              <a:sym typeface="Lato Light"/>
            </a:endParaRPr>
          </a:p>
        </p:txBody>
      </p:sp>
      <p:sp>
        <p:nvSpPr>
          <p:cNvPr id="83" name="Google Shape;83;p15"/>
          <p:cNvSpPr txBox="1">
            <a:spLocks noGrp="1"/>
          </p:cNvSpPr>
          <p:nvPr>
            <p:ph type="body" idx="1"/>
          </p:nvPr>
        </p:nvSpPr>
        <p:spPr>
          <a:xfrm>
            <a:off x="1798350" y="1727000"/>
            <a:ext cx="2560200" cy="84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rgbClr val="000000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rPr>
              <a:t>Reduce Excessive Losses</a:t>
            </a:r>
            <a:endParaRPr sz="2000">
              <a:solidFill>
                <a:srgbClr val="000000"/>
              </a:solidFill>
              <a:latin typeface="Playfair Display SemiBold"/>
              <a:ea typeface="Playfair Display SemiBold"/>
              <a:cs typeface="Playfair Display SemiBold"/>
              <a:sym typeface="Playfair Display SemiBold"/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None/>
            </a:pPr>
            <a:endParaRPr sz="1400">
              <a:solidFill>
                <a:srgbClr val="000000"/>
              </a:solidFill>
              <a:latin typeface="Lato Light"/>
              <a:ea typeface="Lato Light"/>
              <a:cs typeface="Lato Light"/>
              <a:sym typeface="Lato Light"/>
            </a:endParaRPr>
          </a:p>
        </p:txBody>
      </p:sp>
      <p:sp>
        <p:nvSpPr>
          <p:cNvPr id="84" name="Google Shape;84;p15"/>
          <p:cNvSpPr txBox="1">
            <a:spLocks noGrp="1"/>
          </p:cNvSpPr>
          <p:nvPr>
            <p:ph type="body" idx="1"/>
          </p:nvPr>
        </p:nvSpPr>
        <p:spPr>
          <a:xfrm>
            <a:off x="6412500" y="1727000"/>
            <a:ext cx="2419800" cy="1010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rgbClr val="000000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rPr>
              <a:t>Improve Customer Experience</a:t>
            </a:r>
            <a:endParaRPr sz="2000">
              <a:solidFill>
                <a:srgbClr val="000000"/>
              </a:solidFill>
              <a:latin typeface="Playfair Display SemiBold"/>
              <a:ea typeface="Playfair Display SemiBold"/>
              <a:cs typeface="Playfair Display SemiBold"/>
              <a:sym typeface="Playfair Display SemiBold"/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None/>
            </a:pPr>
            <a:endParaRPr sz="1400">
              <a:solidFill>
                <a:srgbClr val="000000"/>
              </a:solidFill>
              <a:latin typeface="Playfair Display SemiBold"/>
              <a:ea typeface="Playfair Display SemiBold"/>
              <a:cs typeface="Playfair Display SemiBold"/>
              <a:sym typeface="Playfair Display SemiBold"/>
            </a:endParaRPr>
          </a:p>
        </p:txBody>
      </p:sp>
      <p:cxnSp>
        <p:nvCxnSpPr>
          <p:cNvPr id="85" name="Google Shape;85;p15"/>
          <p:cNvCxnSpPr/>
          <p:nvPr/>
        </p:nvCxnSpPr>
        <p:spPr>
          <a:xfrm>
            <a:off x="1684184" y="1804041"/>
            <a:ext cx="0" cy="207210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6" name="Google Shape;86;p15"/>
          <p:cNvCxnSpPr/>
          <p:nvPr/>
        </p:nvCxnSpPr>
        <p:spPr>
          <a:xfrm>
            <a:off x="6313375" y="1804041"/>
            <a:ext cx="0" cy="207210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87" name="Google Shape;87;p15" title="attach_money_100dp_176161_FILL0_wght400_GRAD0_opsz48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9275" y="2467097"/>
            <a:ext cx="952500" cy="952500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15"/>
          <p:cNvSpPr/>
          <p:nvPr/>
        </p:nvSpPr>
        <p:spPr>
          <a:xfrm>
            <a:off x="464800" y="4277700"/>
            <a:ext cx="513300" cy="513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89" name="Google Shape;89;p15" title="check_circle_100dp_176161_FILL0_wght400_GRAD0_opsz48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64950" y="4272500"/>
            <a:ext cx="513000" cy="513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0" name="Google Shape;90;p15" title="shield_153dp_176161_FILL0_wght400_GRAD0_opsz48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26850" y="2209954"/>
            <a:ext cx="1457325" cy="1457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1" name="Google Shape;91;p15" title="credit_score_153dp_176161_FILL0_wght400_GRAD0_opsz48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806250" y="2214683"/>
            <a:ext cx="1457325" cy="1457325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15"/>
          <p:cNvSpPr txBox="1"/>
          <p:nvPr/>
        </p:nvSpPr>
        <p:spPr>
          <a:xfrm>
            <a:off x="172375" y="5331125"/>
            <a:ext cx="6481200" cy="53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Icons Source: https://fonts.google.com/icons</a:t>
            </a:r>
            <a:endParaRPr sz="23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6"/>
          <p:cNvSpPr/>
          <p:nvPr/>
        </p:nvSpPr>
        <p:spPr>
          <a:xfrm>
            <a:off x="6648765" y="1745875"/>
            <a:ext cx="2061000" cy="1044300"/>
          </a:xfrm>
          <a:prstGeom prst="roundRect">
            <a:avLst>
              <a:gd name="adj" fmla="val 16667"/>
            </a:avLst>
          </a:prstGeom>
          <a:solidFill>
            <a:srgbClr val="FAFAFA"/>
          </a:solidFill>
          <a:ln w="9525" cap="flat" cmpd="sng">
            <a:solidFill>
              <a:srgbClr val="17616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" name="Google Shape;98;p16"/>
          <p:cNvSpPr/>
          <p:nvPr/>
        </p:nvSpPr>
        <p:spPr>
          <a:xfrm>
            <a:off x="5158089" y="3553525"/>
            <a:ext cx="1983900" cy="922800"/>
          </a:xfrm>
          <a:prstGeom prst="roundRect">
            <a:avLst>
              <a:gd name="adj" fmla="val 16667"/>
            </a:avLst>
          </a:prstGeom>
          <a:solidFill>
            <a:srgbClr val="FAFAFA"/>
          </a:solidFill>
          <a:ln w="9525" cap="flat" cmpd="sng">
            <a:solidFill>
              <a:srgbClr val="17616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" name="Google Shape;99;p16"/>
          <p:cNvSpPr/>
          <p:nvPr/>
        </p:nvSpPr>
        <p:spPr>
          <a:xfrm>
            <a:off x="3613812" y="1745875"/>
            <a:ext cx="2061000" cy="1044300"/>
          </a:xfrm>
          <a:prstGeom prst="roundRect">
            <a:avLst>
              <a:gd name="adj" fmla="val 16667"/>
            </a:avLst>
          </a:prstGeom>
          <a:solidFill>
            <a:srgbClr val="FAFAFA"/>
          </a:solidFill>
          <a:ln w="9525" cap="flat" cmpd="sng">
            <a:solidFill>
              <a:srgbClr val="17616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" name="Google Shape;100;p16"/>
          <p:cNvSpPr/>
          <p:nvPr/>
        </p:nvSpPr>
        <p:spPr>
          <a:xfrm>
            <a:off x="2085859" y="3553525"/>
            <a:ext cx="1984500" cy="922800"/>
          </a:xfrm>
          <a:prstGeom prst="roundRect">
            <a:avLst>
              <a:gd name="adj" fmla="val 16667"/>
            </a:avLst>
          </a:prstGeom>
          <a:solidFill>
            <a:srgbClr val="FAFAFA"/>
          </a:solidFill>
          <a:ln w="9525" cap="flat" cmpd="sng">
            <a:solidFill>
              <a:srgbClr val="17616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1" name="Google Shape;101;p16"/>
          <p:cNvSpPr/>
          <p:nvPr/>
        </p:nvSpPr>
        <p:spPr>
          <a:xfrm>
            <a:off x="434237" y="1745875"/>
            <a:ext cx="2205600" cy="1044300"/>
          </a:xfrm>
          <a:prstGeom prst="roundRect">
            <a:avLst>
              <a:gd name="adj" fmla="val 16667"/>
            </a:avLst>
          </a:prstGeom>
          <a:solidFill>
            <a:srgbClr val="FAFAFA"/>
          </a:solidFill>
          <a:ln w="9525" cap="flat" cmpd="sng">
            <a:solidFill>
              <a:srgbClr val="17616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1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11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3000">
                <a:latin typeface="Playfair Display SemiBold"/>
                <a:ea typeface="Playfair Display SemiBold"/>
                <a:cs typeface="Playfair Display SemiBold"/>
                <a:sym typeface="Playfair Display SemiBold"/>
              </a:rPr>
              <a:t>Objectives</a:t>
            </a:r>
            <a:endParaRPr sz="3000">
              <a:latin typeface="Playfair Display SemiBold"/>
              <a:ea typeface="Playfair Display SemiBold"/>
              <a:cs typeface="Playfair Display SemiBold"/>
              <a:sym typeface="Playfair Display SemiBol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latin typeface="Lato Light"/>
                <a:ea typeface="Lato Light"/>
                <a:cs typeface="Lato Light"/>
                <a:sym typeface="Lato Light"/>
              </a:rPr>
              <a:t>Building a model that captures fraud while minimizing false positives</a:t>
            </a:r>
            <a:endParaRPr sz="3000" b="1"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03" name="Google Shape;103;p16"/>
          <p:cNvSpPr txBox="1">
            <a:spLocks noGrp="1"/>
          </p:cNvSpPr>
          <p:nvPr>
            <p:ph type="body" idx="1"/>
          </p:nvPr>
        </p:nvSpPr>
        <p:spPr>
          <a:xfrm>
            <a:off x="466742" y="1783509"/>
            <a:ext cx="1984500" cy="996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4572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18"/>
              <a:buNone/>
            </a:pPr>
            <a:r>
              <a:rPr lang="en" sz="100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Find Signals</a:t>
            </a:r>
            <a:endParaRPr sz="1000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18"/>
              <a:buNone/>
            </a:pPr>
            <a:endParaRPr sz="1000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18"/>
              <a:buNone/>
            </a:pPr>
            <a:r>
              <a:rPr lang="en" sz="1000">
                <a:solidFill>
                  <a:srgbClr val="000000"/>
                </a:solidFill>
                <a:latin typeface="Lato Light"/>
                <a:ea typeface="Lato Light"/>
                <a:cs typeface="Lato Light"/>
                <a:sym typeface="Lato Light"/>
              </a:rPr>
              <a:t>Which features drive fraud, and does our engineered time feature add value?</a:t>
            </a:r>
            <a:endParaRPr sz="1000">
              <a:solidFill>
                <a:srgbClr val="000000"/>
              </a:solidFill>
              <a:latin typeface="Lato Light"/>
              <a:ea typeface="Lato Light"/>
              <a:cs typeface="Lato Light"/>
              <a:sym typeface="Lato Light"/>
            </a:endParaRPr>
          </a:p>
        </p:txBody>
      </p:sp>
      <p:sp>
        <p:nvSpPr>
          <p:cNvPr id="104" name="Google Shape;104;p16"/>
          <p:cNvSpPr txBox="1">
            <a:spLocks noGrp="1"/>
          </p:cNvSpPr>
          <p:nvPr>
            <p:ph type="body" idx="1"/>
          </p:nvPr>
        </p:nvSpPr>
        <p:spPr>
          <a:xfrm>
            <a:off x="2086145" y="3553525"/>
            <a:ext cx="1794300" cy="1044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4572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18"/>
              <a:buNone/>
            </a:pPr>
            <a:r>
              <a:rPr lang="en" sz="100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Compare Models</a:t>
            </a:r>
            <a:endParaRPr sz="1000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18"/>
              <a:buNone/>
            </a:pPr>
            <a:endParaRPr sz="1000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18"/>
              <a:buNone/>
            </a:pPr>
            <a:r>
              <a:rPr lang="en" sz="1000">
                <a:solidFill>
                  <a:srgbClr val="000000"/>
                </a:solidFill>
                <a:latin typeface="Lato Light"/>
                <a:ea typeface="Lato Light"/>
                <a:cs typeface="Lato Light"/>
                <a:sym typeface="Lato Light"/>
              </a:rPr>
              <a:t>Build and compare at least four models</a:t>
            </a:r>
            <a:endParaRPr sz="1000">
              <a:solidFill>
                <a:srgbClr val="000000"/>
              </a:solidFill>
              <a:latin typeface="Lato Light"/>
              <a:ea typeface="Lato Light"/>
              <a:cs typeface="Lato Light"/>
              <a:sym typeface="Lato Light"/>
            </a:endParaRPr>
          </a:p>
          <a:p>
            <a:pPr marL="4572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18"/>
              <a:buNone/>
            </a:pPr>
            <a:endParaRPr sz="1000">
              <a:solidFill>
                <a:srgbClr val="000000"/>
              </a:solidFill>
              <a:latin typeface="Lato Light"/>
              <a:ea typeface="Lato Light"/>
              <a:cs typeface="Lato Light"/>
              <a:sym typeface="Lato Light"/>
            </a:endParaRPr>
          </a:p>
        </p:txBody>
      </p:sp>
      <p:sp>
        <p:nvSpPr>
          <p:cNvPr id="105" name="Google Shape;105;p16"/>
          <p:cNvSpPr txBox="1">
            <a:spLocks noGrp="1"/>
          </p:cNvSpPr>
          <p:nvPr>
            <p:ph type="body" idx="1"/>
          </p:nvPr>
        </p:nvSpPr>
        <p:spPr>
          <a:xfrm>
            <a:off x="3613813" y="1779052"/>
            <a:ext cx="1878300" cy="996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4572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18"/>
              <a:buNone/>
            </a:pPr>
            <a:r>
              <a:rPr lang="en" sz="100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Tune the Threshold</a:t>
            </a:r>
            <a:endParaRPr sz="1000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18"/>
              <a:buNone/>
            </a:pPr>
            <a:endParaRPr sz="1000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18"/>
              <a:buNone/>
            </a:pPr>
            <a:r>
              <a:rPr lang="en" sz="1000">
                <a:solidFill>
                  <a:srgbClr val="000000"/>
                </a:solidFill>
                <a:latin typeface="Lato Light"/>
                <a:ea typeface="Lato Light"/>
                <a:cs typeface="Lato Light"/>
                <a:sym typeface="Lato Light"/>
              </a:rPr>
              <a:t>Find the sweet spot between catching fraud and minimizing false alarms</a:t>
            </a:r>
            <a:endParaRPr sz="1000">
              <a:solidFill>
                <a:srgbClr val="000000"/>
              </a:solidFill>
              <a:latin typeface="Lato Light"/>
              <a:ea typeface="Lato Light"/>
              <a:cs typeface="Lato Light"/>
              <a:sym typeface="Lato Light"/>
            </a:endParaRPr>
          </a:p>
        </p:txBody>
      </p:sp>
      <p:sp>
        <p:nvSpPr>
          <p:cNvPr id="106" name="Google Shape;106;p16"/>
          <p:cNvSpPr txBox="1">
            <a:spLocks noGrp="1"/>
          </p:cNvSpPr>
          <p:nvPr>
            <p:ph type="body" idx="1"/>
          </p:nvPr>
        </p:nvSpPr>
        <p:spPr>
          <a:xfrm>
            <a:off x="6648765" y="1779052"/>
            <a:ext cx="1735800" cy="996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4572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18"/>
              <a:buNone/>
            </a:pPr>
            <a:r>
              <a:rPr lang="en" sz="100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Deployment Strategy</a:t>
            </a:r>
            <a:endParaRPr sz="1000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18"/>
              <a:buNone/>
            </a:pPr>
            <a:endParaRPr sz="1000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18"/>
              <a:buNone/>
            </a:pPr>
            <a:r>
              <a:rPr lang="en" sz="1000">
                <a:solidFill>
                  <a:srgbClr val="000000"/>
                </a:solidFill>
                <a:latin typeface="Lato Light"/>
                <a:ea typeface="Lato Light"/>
                <a:cs typeface="Lato Light"/>
                <a:sym typeface="Lato Light"/>
              </a:rPr>
              <a:t>Recommend a practical path to score transactions in near real time</a:t>
            </a:r>
            <a:endParaRPr sz="1000">
              <a:solidFill>
                <a:srgbClr val="000000"/>
              </a:solidFill>
              <a:latin typeface="Lato Light"/>
              <a:ea typeface="Lato Light"/>
              <a:cs typeface="Lato Light"/>
              <a:sym typeface="Lato Light"/>
            </a:endParaRPr>
          </a:p>
        </p:txBody>
      </p:sp>
      <p:sp>
        <p:nvSpPr>
          <p:cNvPr id="107" name="Google Shape;107;p16"/>
          <p:cNvSpPr/>
          <p:nvPr/>
        </p:nvSpPr>
        <p:spPr>
          <a:xfrm>
            <a:off x="1432036" y="3066300"/>
            <a:ext cx="208200" cy="219600"/>
          </a:xfrm>
          <a:prstGeom prst="ellipse">
            <a:avLst/>
          </a:prstGeom>
          <a:solidFill>
            <a:srgbClr val="17616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08" name="Google Shape;108;p16"/>
          <p:cNvCxnSpPr>
            <a:stCxn id="107" idx="0"/>
            <a:endCxn id="101" idx="2"/>
          </p:cNvCxnSpPr>
          <p:nvPr/>
        </p:nvCxnSpPr>
        <p:spPr>
          <a:xfrm rot="10800000" flipH="1">
            <a:off x="1536136" y="2790300"/>
            <a:ext cx="900" cy="276000"/>
          </a:xfrm>
          <a:prstGeom prst="straightConnector1">
            <a:avLst/>
          </a:prstGeom>
          <a:noFill/>
          <a:ln w="19050" cap="flat" cmpd="sng">
            <a:solidFill>
              <a:srgbClr val="17616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9" name="Google Shape;109;p16"/>
          <p:cNvCxnSpPr>
            <a:stCxn id="110" idx="4"/>
            <a:endCxn id="104" idx="0"/>
          </p:cNvCxnSpPr>
          <p:nvPr/>
        </p:nvCxnSpPr>
        <p:spPr>
          <a:xfrm flipH="1">
            <a:off x="2983298" y="3286887"/>
            <a:ext cx="1500" cy="266700"/>
          </a:xfrm>
          <a:prstGeom prst="straightConnector1">
            <a:avLst/>
          </a:prstGeom>
          <a:noFill/>
          <a:ln w="19050" cap="flat" cmpd="sng">
            <a:solidFill>
              <a:srgbClr val="17616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1" name="Google Shape;111;p16"/>
          <p:cNvCxnSpPr>
            <a:stCxn id="112" idx="0"/>
            <a:endCxn id="99" idx="2"/>
          </p:cNvCxnSpPr>
          <p:nvPr/>
        </p:nvCxnSpPr>
        <p:spPr>
          <a:xfrm rot="10800000">
            <a:off x="4644409" y="2790226"/>
            <a:ext cx="4500" cy="265500"/>
          </a:xfrm>
          <a:prstGeom prst="straightConnector1">
            <a:avLst/>
          </a:prstGeom>
          <a:noFill/>
          <a:ln w="19050" cap="flat" cmpd="sng">
            <a:solidFill>
              <a:srgbClr val="17616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3" name="Google Shape;113;p16"/>
          <p:cNvCxnSpPr>
            <a:stCxn id="114" idx="4"/>
            <a:endCxn id="98" idx="0"/>
          </p:cNvCxnSpPr>
          <p:nvPr/>
        </p:nvCxnSpPr>
        <p:spPr>
          <a:xfrm flipH="1">
            <a:off x="6150037" y="3275326"/>
            <a:ext cx="300" cy="278100"/>
          </a:xfrm>
          <a:prstGeom prst="straightConnector1">
            <a:avLst/>
          </a:prstGeom>
          <a:noFill/>
          <a:ln w="19050" cap="flat" cmpd="sng">
            <a:solidFill>
              <a:srgbClr val="17616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5" name="Google Shape;115;p16"/>
          <p:cNvCxnSpPr>
            <a:stCxn id="116" idx="0"/>
            <a:endCxn id="97" idx="2"/>
          </p:cNvCxnSpPr>
          <p:nvPr/>
        </p:nvCxnSpPr>
        <p:spPr>
          <a:xfrm rot="10800000" flipH="1">
            <a:off x="7677201" y="2790225"/>
            <a:ext cx="2100" cy="265500"/>
          </a:xfrm>
          <a:prstGeom prst="straightConnector1">
            <a:avLst/>
          </a:prstGeom>
          <a:noFill/>
          <a:ln w="19050" cap="flat" cmpd="sng">
            <a:solidFill>
              <a:srgbClr val="17616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7" name="Google Shape;117;p16"/>
          <p:cNvCxnSpPr/>
          <p:nvPr/>
        </p:nvCxnSpPr>
        <p:spPr>
          <a:xfrm>
            <a:off x="1469625" y="3181975"/>
            <a:ext cx="6193200" cy="0"/>
          </a:xfrm>
          <a:prstGeom prst="straightConnector1">
            <a:avLst/>
          </a:prstGeom>
          <a:noFill/>
          <a:ln w="19050" cap="flat" cmpd="sng">
            <a:solidFill>
              <a:srgbClr val="17616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8" name="Google Shape;118;p16"/>
          <p:cNvSpPr txBox="1"/>
          <p:nvPr/>
        </p:nvSpPr>
        <p:spPr>
          <a:xfrm>
            <a:off x="1042725" y="5771075"/>
            <a:ext cx="334200" cy="47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AFAFA"/>
                </a:solidFill>
                <a:latin typeface="Lato Black"/>
                <a:ea typeface="Lato Black"/>
                <a:cs typeface="Lato Black"/>
                <a:sym typeface="Lato Black"/>
              </a:rPr>
              <a:t>1</a:t>
            </a:r>
            <a:endParaRPr sz="1800">
              <a:solidFill>
                <a:srgbClr val="FAFAFA"/>
              </a:solidFill>
              <a:latin typeface="Lato Black"/>
              <a:ea typeface="Lato Black"/>
              <a:cs typeface="Lato Black"/>
              <a:sym typeface="Lato Black"/>
            </a:endParaRPr>
          </a:p>
        </p:txBody>
      </p:sp>
      <p:sp>
        <p:nvSpPr>
          <p:cNvPr id="119" name="Google Shape;119;p16"/>
          <p:cNvSpPr txBox="1"/>
          <p:nvPr/>
        </p:nvSpPr>
        <p:spPr>
          <a:xfrm>
            <a:off x="2720800" y="5771075"/>
            <a:ext cx="334200" cy="47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AFAFA"/>
                </a:solidFill>
                <a:latin typeface="Lato Black"/>
                <a:ea typeface="Lato Black"/>
                <a:cs typeface="Lato Black"/>
                <a:sym typeface="Lato Black"/>
              </a:rPr>
              <a:t>2</a:t>
            </a:r>
            <a:endParaRPr sz="1800">
              <a:solidFill>
                <a:srgbClr val="FAFAFA"/>
              </a:solidFill>
              <a:latin typeface="Lato Black"/>
              <a:ea typeface="Lato Black"/>
              <a:cs typeface="Lato Black"/>
              <a:sym typeface="Lato Black"/>
            </a:endParaRPr>
          </a:p>
        </p:txBody>
      </p:sp>
      <p:sp>
        <p:nvSpPr>
          <p:cNvPr id="120" name="Google Shape;120;p16"/>
          <p:cNvSpPr txBox="1"/>
          <p:nvPr/>
        </p:nvSpPr>
        <p:spPr>
          <a:xfrm>
            <a:off x="4398875" y="5771075"/>
            <a:ext cx="334200" cy="47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AFAFA"/>
                </a:solidFill>
                <a:latin typeface="Lato Black"/>
                <a:ea typeface="Lato Black"/>
                <a:cs typeface="Lato Black"/>
                <a:sym typeface="Lato Black"/>
              </a:rPr>
              <a:t>3</a:t>
            </a:r>
            <a:endParaRPr sz="1800">
              <a:solidFill>
                <a:srgbClr val="FAFAFA"/>
              </a:solidFill>
              <a:latin typeface="Lato Black"/>
              <a:ea typeface="Lato Black"/>
              <a:cs typeface="Lato Black"/>
              <a:sym typeface="Lato Black"/>
            </a:endParaRPr>
          </a:p>
        </p:txBody>
      </p:sp>
      <p:sp>
        <p:nvSpPr>
          <p:cNvPr id="121" name="Google Shape;121;p16"/>
          <p:cNvSpPr txBox="1"/>
          <p:nvPr/>
        </p:nvSpPr>
        <p:spPr>
          <a:xfrm>
            <a:off x="6082677" y="5771075"/>
            <a:ext cx="334200" cy="47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AFAFA"/>
                </a:solidFill>
                <a:latin typeface="Lato Black"/>
                <a:ea typeface="Lato Black"/>
                <a:cs typeface="Lato Black"/>
                <a:sym typeface="Lato Black"/>
              </a:rPr>
              <a:t>4</a:t>
            </a:r>
            <a:endParaRPr sz="1800">
              <a:solidFill>
                <a:srgbClr val="FAFAFA"/>
              </a:solidFill>
              <a:latin typeface="Lato Black"/>
              <a:ea typeface="Lato Black"/>
              <a:cs typeface="Lato Black"/>
              <a:sym typeface="Lato Black"/>
            </a:endParaRPr>
          </a:p>
        </p:txBody>
      </p:sp>
      <p:sp>
        <p:nvSpPr>
          <p:cNvPr id="122" name="Google Shape;122;p16"/>
          <p:cNvSpPr txBox="1"/>
          <p:nvPr/>
        </p:nvSpPr>
        <p:spPr>
          <a:xfrm>
            <a:off x="7766475" y="5771075"/>
            <a:ext cx="334200" cy="47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AFAFA"/>
                </a:solidFill>
                <a:latin typeface="Lato Black"/>
                <a:ea typeface="Lato Black"/>
                <a:cs typeface="Lato Black"/>
                <a:sym typeface="Lato Black"/>
              </a:rPr>
              <a:t>5</a:t>
            </a:r>
            <a:endParaRPr sz="1800">
              <a:solidFill>
                <a:srgbClr val="FAFAFA"/>
              </a:solidFill>
              <a:latin typeface="Lato Black"/>
              <a:ea typeface="Lato Black"/>
              <a:cs typeface="Lato Black"/>
              <a:sym typeface="Lato Black"/>
            </a:endParaRPr>
          </a:p>
        </p:txBody>
      </p:sp>
      <p:cxnSp>
        <p:nvCxnSpPr>
          <p:cNvPr id="123" name="Google Shape;123;p16"/>
          <p:cNvCxnSpPr/>
          <p:nvPr/>
        </p:nvCxnSpPr>
        <p:spPr>
          <a:xfrm>
            <a:off x="1617412" y="3163942"/>
            <a:ext cx="788700" cy="18000"/>
          </a:xfrm>
          <a:prstGeom prst="straightConnector1">
            <a:avLst/>
          </a:prstGeom>
          <a:noFill/>
          <a:ln w="28575" cap="flat" cmpd="sng">
            <a:solidFill>
              <a:srgbClr val="17616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24" name="Google Shape;124;p16"/>
          <p:cNvCxnSpPr/>
          <p:nvPr/>
        </p:nvCxnSpPr>
        <p:spPr>
          <a:xfrm>
            <a:off x="3070216" y="3162850"/>
            <a:ext cx="788700" cy="18000"/>
          </a:xfrm>
          <a:prstGeom prst="straightConnector1">
            <a:avLst/>
          </a:prstGeom>
          <a:noFill/>
          <a:ln w="28575" cap="flat" cmpd="sng">
            <a:solidFill>
              <a:srgbClr val="17616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25" name="Google Shape;125;p16"/>
          <p:cNvCxnSpPr/>
          <p:nvPr/>
        </p:nvCxnSpPr>
        <p:spPr>
          <a:xfrm>
            <a:off x="4703603" y="3162850"/>
            <a:ext cx="788700" cy="18000"/>
          </a:xfrm>
          <a:prstGeom prst="straightConnector1">
            <a:avLst/>
          </a:prstGeom>
          <a:noFill/>
          <a:ln w="28575" cap="flat" cmpd="sng">
            <a:solidFill>
              <a:srgbClr val="17616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26" name="Google Shape;126;p16"/>
          <p:cNvCxnSpPr/>
          <p:nvPr/>
        </p:nvCxnSpPr>
        <p:spPr>
          <a:xfrm>
            <a:off x="6238183" y="3162850"/>
            <a:ext cx="788700" cy="18000"/>
          </a:xfrm>
          <a:prstGeom prst="straightConnector1">
            <a:avLst/>
          </a:prstGeom>
          <a:noFill/>
          <a:ln w="28575" cap="flat" cmpd="sng">
            <a:solidFill>
              <a:srgbClr val="17616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10" name="Google Shape;110;p16"/>
          <p:cNvSpPr/>
          <p:nvPr/>
        </p:nvSpPr>
        <p:spPr>
          <a:xfrm>
            <a:off x="2880698" y="3067287"/>
            <a:ext cx="208200" cy="219600"/>
          </a:xfrm>
          <a:prstGeom prst="ellipse">
            <a:avLst/>
          </a:prstGeom>
          <a:solidFill>
            <a:srgbClr val="17616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" name="Google Shape;112;p16"/>
          <p:cNvSpPr/>
          <p:nvPr/>
        </p:nvSpPr>
        <p:spPr>
          <a:xfrm>
            <a:off x="4544809" y="3055726"/>
            <a:ext cx="208200" cy="219600"/>
          </a:xfrm>
          <a:prstGeom prst="ellipse">
            <a:avLst/>
          </a:prstGeom>
          <a:solidFill>
            <a:srgbClr val="17616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16"/>
          <p:cNvSpPr/>
          <p:nvPr/>
        </p:nvSpPr>
        <p:spPr>
          <a:xfrm>
            <a:off x="6046237" y="3055726"/>
            <a:ext cx="208200" cy="219600"/>
          </a:xfrm>
          <a:prstGeom prst="ellipse">
            <a:avLst/>
          </a:prstGeom>
          <a:solidFill>
            <a:srgbClr val="17616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p16"/>
          <p:cNvSpPr/>
          <p:nvPr/>
        </p:nvSpPr>
        <p:spPr>
          <a:xfrm>
            <a:off x="7573101" y="3055725"/>
            <a:ext cx="208200" cy="219600"/>
          </a:xfrm>
          <a:prstGeom prst="ellipse">
            <a:avLst/>
          </a:prstGeom>
          <a:solidFill>
            <a:srgbClr val="17616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27" name="Google Shape;127;p16"/>
          <p:cNvCxnSpPr/>
          <p:nvPr/>
        </p:nvCxnSpPr>
        <p:spPr>
          <a:xfrm rot="10800000" flipH="1">
            <a:off x="598190" y="2114651"/>
            <a:ext cx="814200" cy="9000"/>
          </a:xfrm>
          <a:prstGeom prst="straightConnector1">
            <a:avLst/>
          </a:prstGeom>
          <a:noFill/>
          <a:ln w="9525" cap="flat" cmpd="sng">
            <a:solidFill>
              <a:srgbClr val="D9D9D9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28" name="Google Shape;128;p16"/>
          <p:cNvCxnSpPr/>
          <p:nvPr/>
        </p:nvCxnSpPr>
        <p:spPr>
          <a:xfrm>
            <a:off x="2224466" y="3932302"/>
            <a:ext cx="1170600" cy="0"/>
          </a:xfrm>
          <a:prstGeom prst="straightConnector1">
            <a:avLst/>
          </a:prstGeom>
          <a:noFill/>
          <a:ln w="9525" cap="flat" cmpd="sng">
            <a:solidFill>
              <a:srgbClr val="D9D9D9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29" name="Google Shape;129;p16"/>
          <p:cNvCxnSpPr/>
          <p:nvPr/>
        </p:nvCxnSpPr>
        <p:spPr>
          <a:xfrm>
            <a:off x="3764137" y="2113007"/>
            <a:ext cx="1293900" cy="9300"/>
          </a:xfrm>
          <a:prstGeom prst="straightConnector1">
            <a:avLst/>
          </a:prstGeom>
          <a:noFill/>
          <a:ln w="9525" cap="flat" cmpd="sng">
            <a:solidFill>
              <a:srgbClr val="D9D9D9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0" name="Google Shape;130;p16"/>
          <p:cNvSpPr txBox="1">
            <a:spLocks noGrp="1"/>
          </p:cNvSpPr>
          <p:nvPr>
            <p:ph type="body" idx="1"/>
          </p:nvPr>
        </p:nvSpPr>
        <p:spPr>
          <a:xfrm>
            <a:off x="5158100" y="3553525"/>
            <a:ext cx="1928100" cy="1044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4572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18"/>
              <a:buNone/>
            </a:pPr>
            <a:r>
              <a:rPr lang="en" sz="100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Quantify Impact </a:t>
            </a:r>
            <a:endParaRPr sz="1000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18"/>
              <a:buNone/>
            </a:pPr>
            <a:endParaRPr sz="1000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18"/>
              <a:buNone/>
            </a:pPr>
            <a:r>
              <a:rPr lang="en" sz="1000">
                <a:solidFill>
                  <a:srgbClr val="000000"/>
                </a:solidFill>
                <a:latin typeface="Lato Light"/>
                <a:ea typeface="Lato Light"/>
                <a:cs typeface="Lato Light"/>
                <a:sym typeface="Lato Light"/>
              </a:rPr>
              <a:t>Translate model accuracy into dollars saved and costs avoided</a:t>
            </a:r>
            <a:endParaRPr sz="1000">
              <a:solidFill>
                <a:srgbClr val="000000"/>
              </a:solidFill>
              <a:latin typeface="Lato Light"/>
              <a:ea typeface="Lato Light"/>
              <a:cs typeface="Lato Light"/>
              <a:sym typeface="Lato Light"/>
            </a:endParaRPr>
          </a:p>
          <a:p>
            <a:pPr marL="4572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18"/>
              <a:buNone/>
            </a:pPr>
            <a:endParaRPr sz="1000">
              <a:solidFill>
                <a:srgbClr val="000000"/>
              </a:solidFill>
              <a:latin typeface="Lato Light"/>
              <a:ea typeface="Lato Light"/>
              <a:cs typeface="Lato Light"/>
              <a:sym typeface="Lato Light"/>
            </a:endParaRPr>
          </a:p>
        </p:txBody>
      </p:sp>
      <p:cxnSp>
        <p:nvCxnSpPr>
          <p:cNvPr id="131" name="Google Shape;131;p16"/>
          <p:cNvCxnSpPr/>
          <p:nvPr/>
        </p:nvCxnSpPr>
        <p:spPr>
          <a:xfrm>
            <a:off x="5297913" y="3858595"/>
            <a:ext cx="1110900" cy="0"/>
          </a:xfrm>
          <a:prstGeom prst="straightConnector1">
            <a:avLst/>
          </a:prstGeom>
          <a:noFill/>
          <a:ln w="9525" cap="flat" cmpd="sng">
            <a:solidFill>
              <a:srgbClr val="D9D9D9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2" name="Google Shape;132;p16"/>
          <p:cNvCxnSpPr/>
          <p:nvPr/>
        </p:nvCxnSpPr>
        <p:spPr>
          <a:xfrm>
            <a:off x="6802956" y="2120607"/>
            <a:ext cx="1458900" cy="1800"/>
          </a:xfrm>
          <a:prstGeom prst="straightConnector1">
            <a:avLst/>
          </a:prstGeom>
          <a:noFill/>
          <a:ln w="9525" cap="flat" cmpd="sng">
            <a:solidFill>
              <a:srgbClr val="D9D9D9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5" name="Google Shape;155;p17" title="fraud_circle2.0.gif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254005" y="1194988"/>
            <a:ext cx="2434276" cy="2434248"/>
          </a:xfrm>
          <a:prstGeom prst="rect">
            <a:avLst/>
          </a:prstGeom>
          <a:noFill/>
          <a:ln>
            <a:noFill/>
          </a:ln>
        </p:spPr>
      </p:pic>
      <p:sp>
        <p:nvSpPr>
          <p:cNvPr id="137" name="Google Shape;137;p17"/>
          <p:cNvSpPr/>
          <p:nvPr/>
        </p:nvSpPr>
        <p:spPr>
          <a:xfrm>
            <a:off x="6071238" y="1891071"/>
            <a:ext cx="2573700" cy="12216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17"/>
          <p:cNvSpPr/>
          <p:nvPr/>
        </p:nvSpPr>
        <p:spPr>
          <a:xfrm>
            <a:off x="4869575" y="3535650"/>
            <a:ext cx="3775500" cy="12216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9" name="Google Shape;139;p17"/>
          <p:cNvSpPr/>
          <p:nvPr/>
        </p:nvSpPr>
        <p:spPr>
          <a:xfrm>
            <a:off x="499075" y="3535650"/>
            <a:ext cx="3775500" cy="12216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0" name="Google Shape;140;p17"/>
          <p:cNvSpPr/>
          <p:nvPr/>
        </p:nvSpPr>
        <p:spPr>
          <a:xfrm>
            <a:off x="499063" y="1882496"/>
            <a:ext cx="2573700" cy="12216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1" name="Google Shape;141;p1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134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latin typeface="Playfair Display SemiBold"/>
                <a:ea typeface="Playfair Display SemiBold"/>
                <a:cs typeface="Playfair Display SemiBold"/>
                <a:sym typeface="Playfair Display SemiBold"/>
              </a:rPr>
              <a:t>What Does the Data Look Like?</a:t>
            </a:r>
            <a:endParaRPr sz="3000">
              <a:latin typeface="Playfair Display SemiBold"/>
              <a:ea typeface="Playfair Display SemiBold"/>
              <a:cs typeface="Playfair Display SemiBold"/>
              <a:sym typeface="Playfair Display SemiBol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latin typeface="Lato Light"/>
                <a:ea typeface="Lato Light"/>
                <a:cs typeface="Lato Light"/>
                <a:sym typeface="Lato Light"/>
              </a:rPr>
              <a:t>A snapshot of credit‑card activity, fully anonymized for privacy</a:t>
            </a:r>
            <a:endParaRPr sz="2000">
              <a:latin typeface="Lato Light"/>
              <a:ea typeface="Lato Light"/>
              <a:cs typeface="Lato Light"/>
              <a:sym typeface="Lato Light"/>
            </a:endParaRPr>
          </a:p>
        </p:txBody>
      </p:sp>
      <p:sp>
        <p:nvSpPr>
          <p:cNvPr id="142" name="Google Shape;142;p17"/>
          <p:cNvSpPr txBox="1">
            <a:spLocks noGrp="1"/>
          </p:cNvSpPr>
          <p:nvPr>
            <p:ph type="body" idx="1"/>
          </p:nvPr>
        </p:nvSpPr>
        <p:spPr>
          <a:xfrm>
            <a:off x="1521525" y="1981375"/>
            <a:ext cx="1551000" cy="1041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 b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284,807</a:t>
            </a:r>
            <a:endParaRPr sz="2600" b="1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000000"/>
                </a:solidFill>
                <a:latin typeface="Lato Light"/>
                <a:ea typeface="Lato Light"/>
                <a:cs typeface="Lato Light"/>
                <a:sym typeface="Lato Light"/>
              </a:rPr>
              <a:t>transactions</a:t>
            </a:r>
            <a:endParaRPr sz="1400">
              <a:solidFill>
                <a:srgbClr val="000000"/>
              </a:solidFill>
              <a:latin typeface="Lato Light"/>
              <a:ea typeface="Lato Light"/>
              <a:cs typeface="Lato Light"/>
              <a:sym typeface="Lato Light"/>
            </a:endParaRPr>
          </a:p>
        </p:txBody>
      </p:sp>
      <p:sp>
        <p:nvSpPr>
          <p:cNvPr id="143" name="Google Shape;143;p17"/>
          <p:cNvSpPr txBox="1">
            <a:spLocks noGrp="1"/>
          </p:cNvSpPr>
          <p:nvPr>
            <p:ph type="body" idx="1"/>
          </p:nvPr>
        </p:nvSpPr>
        <p:spPr>
          <a:xfrm>
            <a:off x="7081100" y="1986775"/>
            <a:ext cx="1551000" cy="1041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600" b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492</a:t>
            </a:r>
            <a:endParaRPr sz="2600" b="1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rgbClr val="000000"/>
                </a:solidFill>
                <a:latin typeface="Lato Light"/>
                <a:ea typeface="Lato Light"/>
                <a:cs typeface="Lato Light"/>
                <a:sym typeface="Lato Light"/>
              </a:rPr>
              <a:t>fraud transactions</a:t>
            </a:r>
            <a:endParaRPr sz="1400">
              <a:solidFill>
                <a:srgbClr val="000000"/>
              </a:solidFill>
            </a:endParaRPr>
          </a:p>
        </p:txBody>
      </p:sp>
      <p:sp>
        <p:nvSpPr>
          <p:cNvPr id="144" name="Google Shape;144;p17"/>
          <p:cNvSpPr txBox="1">
            <a:spLocks noGrp="1"/>
          </p:cNvSpPr>
          <p:nvPr>
            <p:ph type="body" idx="1"/>
          </p:nvPr>
        </p:nvSpPr>
        <p:spPr>
          <a:xfrm>
            <a:off x="3915900" y="1984736"/>
            <a:ext cx="1312200" cy="1041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77500" lnSpcReduction="20000"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885" b="1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0.17%</a:t>
            </a:r>
            <a:endParaRPr sz="3885" b="1" dirty="0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000000"/>
                </a:solidFill>
                <a:latin typeface="Lato Light"/>
                <a:ea typeface="Lato Light"/>
                <a:cs typeface="Lato Light"/>
                <a:sym typeface="Lato Light"/>
              </a:rPr>
              <a:t>fraud rate</a:t>
            </a:r>
            <a:endParaRPr dirty="0">
              <a:solidFill>
                <a:srgbClr val="000000"/>
              </a:solidFill>
              <a:latin typeface="Lato Light"/>
              <a:ea typeface="Lato Light"/>
              <a:cs typeface="Lato Light"/>
              <a:sym typeface="Lato Light"/>
            </a:endParaRPr>
          </a:p>
        </p:txBody>
      </p:sp>
      <p:sp>
        <p:nvSpPr>
          <p:cNvPr id="145" name="Google Shape;145;p17"/>
          <p:cNvSpPr txBox="1">
            <a:spLocks noGrp="1"/>
          </p:cNvSpPr>
          <p:nvPr>
            <p:ph type="body" idx="1"/>
          </p:nvPr>
        </p:nvSpPr>
        <p:spPr>
          <a:xfrm>
            <a:off x="1767326" y="3625950"/>
            <a:ext cx="2507400" cy="1041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 b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30 predictors</a:t>
            </a:r>
            <a:endParaRPr sz="2600" b="1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000000"/>
                </a:solidFill>
                <a:latin typeface="Lato Light"/>
                <a:ea typeface="Lato Light"/>
                <a:cs typeface="Lato Light"/>
                <a:sym typeface="Lato Light"/>
              </a:rPr>
              <a:t>Time, Amount, V1-V28 features </a:t>
            </a:r>
            <a:endParaRPr sz="1400">
              <a:solidFill>
                <a:srgbClr val="000000"/>
              </a:solidFill>
              <a:latin typeface="Lato Light"/>
              <a:ea typeface="Lato Light"/>
              <a:cs typeface="Lato Light"/>
              <a:sym typeface="Lato Light"/>
            </a:endParaRPr>
          </a:p>
        </p:txBody>
      </p:sp>
      <p:sp>
        <p:nvSpPr>
          <p:cNvPr id="146" name="Google Shape;146;p17"/>
          <p:cNvSpPr txBox="1">
            <a:spLocks noGrp="1"/>
          </p:cNvSpPr>
          <p:nvPr>
            <p:ph type="body" idx="1"/>
          </p:nvPr>
        </p:nvSpPr>
        <p:spPr>
          <a:xfrm>
            <a:off x="6278875" y="3625950"/>
            <a:ext cx="2353200" cy="1041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 b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48 hours</a:t>
            </a:r>
            <a:endParaRPr sz="2600" b="1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000000"/>
                </a:solidFill>
                <a:latin typeface="Lato Light"/>
                <a:ea typeface="Lato Light"/>
                <a:cs typeface="Lato Light"/>
                <a:sym typeface="Lato Light"/>
              </a:rPr>
              <a:t>transaction window</a:t>
            </a:r>
            <a:endParaRPr sz="1400">
              <a:solidFill>
                <a:srgbClr val="000000"/>
              </a:solidFill>
              <a:latin typeface="Lato Light"/>
              <a:ea typeface="Lato Light"/>
              <a:cs typeface="Lato Light"/>
              <a:sym typeface="Lato Light"/>
            </a:endParaRPr>
          </a:p>
        </p:txBody>
      </p:sp>
      <p:sp>
        <p:nvSpPr>
          <p:cNvPr id="147" name="Google Shape;147;p17"/>
          <p:cNvSpPr/>
          <p:nvPr/>
        </p:nvSpPr>
        <p:spPr>
          <a:xfrm>
            <a:off x="667127" y="2179499"/>
            <a:ext cx="654300" cy="627600"/>
          </a:xfrm>
          <a:prstGeom prst="ellipse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" name="Google Shape;148;p17"/>
          <p:cNvSpPr/>
          <p:nvPr/>
        </p:nvSpPr>
        <p:spPr>
          <a:xfrm>
            <a:off x="758925" y="3729299"/>
            <a:ext cx="869700" cy="834300"/>
          </a:xfrm>
          <a:prstGeom prst="ellipse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" name="Google Shape;149;p17"/>
          <p:cNvSpPr/>
          <p:nvPr/>
        </p:nvSpPr>
        <p:spPr>
          <a:xfrm>
            <a:off x="6264952" y="2188074"/>
            <a:ext cx="654300" cy="627600"/>
          </a:xfrm>
          <a:prstGeom prst="ellipse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p17"/>
          <p:cNvSpPr/>
          <p:nvPr/>
        </p:nvSpPr>
        <p:spPr>
          <a:xfrm>
            <a:off x="5094850" y="3729299"/>
            <a:ext cx="869700" cy="834300"/>
          </a:xfrm>
          <a:prstGeom prst="ellipse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51" name="Google Shape;151;p17" title="history_100dp_176161_FILL0_wght400_GRAD0_opsz48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227950" y="3844700"/>
            <a:ext cx="603500" cy="60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2" name="Google Shape;152;p17" title="database_100dp_176161_FILL0_wght400_GRAD0_opsz48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24777" y="2223796"/>
            <a:ext cx="539000" cy="539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3" name="Google Shape;153;p17" title="bar_chart_100dp_176161_FILL0_wght400_GRAD0_opsz48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66625" y="3793900"/>
            <a:ext cx="654300" cy="654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4" name="Google Shape;154;p17" title="mobile_theft_100dp_176161_FILL0_wght400_GRAD0_opsz48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375927" y="2285696"/>
            <a:ext cx="432350" cy="4323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0" name="Google Shape;160;p18" title="download-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9318" y="1560675"/>
            <a:ext cx="4299699" cy="3217900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18"/>
          <p:cNvSpPr/>
          <p:nvPr/>
        </p:nvSpPr>
        <p:spPr>
          <a:xfrm>
            <a:off x="5271285" y="1243775"/>
            <a:ext cx="3132000" cy="1325100"/>
          </a:xfrm>
          <a:prstGeom prst="roundRect">
            <a:avLst>
              <a:gd name="adj" fmla="val 16667"/>
            </a:avLst>
          </a:prstGeom>
          <a:solidFill>
            <a:srgbClr val="FAFAF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2" name="Google Shape;162;p18"/>
          <p:cNvSpPr/>
          <p:nvPr/>
        </p:nvSpPr>
        <p:spPr>
          <a:xfrm>
            <a:off x="5271275" y="2788220"/>
            <a:ext cx="3132000" cy="1325100"/>
          </a:xfrm>
          <a:prstGeom prst="roundRect">
            <a:avLst>
              <a:gd name="adj" fmla="val 16667"/>
            </a:avLst>
          </a:prstGeom>
          <a:solidFill>
            <a:srgbClr val="FAFAF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3" name="Google Shape;163;p1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134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latin typeface="Playfair Display SemiBold"/>
                <a:ea typeface="Playfair Display SemiBold"/>
                <a:cs typeface="Playfair Display SemiBold"/>
                <a:sym typeface="Playfair Display SemiBold"/>
              </a:rPr>
              <a:t>Data Insights</a:t>
            </a:r>
            <a:r>
              <a:rPr lang="en" sz="3000" b="1">
                <a:latin typeface="Lato"/>
                <a:ea typeface="Lato"/>
                <a:cs typeface="Lato"/>
                <a:sym typeface="Lato"/>
              </a:rPr>
              <a:t> </a:t>
            </a:r>
            <a:endParaRPr sz="3000" b="1">
              <a:latin typeface="Lato"/>
              <a:ea typeface="Lato"/>
              <a:cs typeface="Lato"/>
              <a:sym typeface="La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latin typeface="Lato Light"/>
                <a:ea typeface="Lato Light"/>
                <a:cs typeface="Lato Light"/>
                <a:sym typeface="Lato Light"/>
              </a:rPr>
              <a:t>What the Transaction Log Shows</a:t>
            </a:r>
            <a:endParaRPr sz="2000">
              <a:latin typeface="Lato Light"/>
              <a:ea typeface="Lato Light"/>
              <a:cs typeface="Lato Light"/>
              <a:sym typeface="Lato Light"/>
            </a:endParaRPr>
          </a:p>
        </p:txBody>
      </p:sp>
      <p:sp>
        <p:nvSpPr>
          <p:cNvPr id="164" name="Google Shape;164;p18"/>
          <p:cNvSpPr txBox="1">
            <a:spLocks noGrp="1"/>
          </p:cNvSpPr>
          <p:nvPr>
            <p:ph type="body" idx="1"/>
          </p:nvPr>
        </p:nvSpPr>
        <p:spPr>
          <a:xfrm>
            <a:off x="5406726" y="1317400"/>
            <a:ext cx="2702100" cy="117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>
                <a:solidFill>
                  <a:srgbClr val="176160"/>
                </a:solidFill>
                <a:latin typeface="Lato"/>
                <a:ea typeface="Lato"/>
                <a:cs typeface="Lato"/>
                <a:sym typeface="Lato"/>
              </a:rPr>
              <a:t>51% </a:t>
            </a:r>
            <a:endParaRPr sz="3000" b="1">
              <a:solidFill>
                <a:srgbClr val="176160"/>
              </a:solidFill>
              <a:latin typeface="Lato"/>
              <a:ea typeface="Lato"/>
              <a:cs typeface="Lato"/>
              <a:sym typeface="Lato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rgbClr val="000000"/>
                </a:solidFill>
                <a:latin typeface="Lato Light"/>
                <a:ea typeface="Lato Light"/>
                <a:cs typeface="Lato Light"/>
                <a:sym typeface="Lato Light"/>
              </a:rPr>
              <a:t>of  fraud transactions were less than $10</a:t>
            </a:r>
            <a:endParaRPr/>
          </a:p>
        </p:txBody>
      </p:sp>
      <p:sp>
        <p:nvSpPr>
          <p:cNvPr id="165" name="Google Shape;165;p18"/>
          <p:cNvSpPr txBox="1">
            <a:spLocks noGrp="1"/>
          </p:cNvSpPr>
          <p:nvPr>
            <p:ph type="body" idx="1"/>
          </p:nvPr>
        </p:nvSpPr>
        <p:spPr>
          <a:xfrm>
            <a:off x="5406725" y="2861850"/>
            <a:ext cx="2843400" cy="117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>
                <a:solidFill>
                  <a:srgbClr val="176160"/>
                </a:solidFill>
                <a:latin typeface="Lato"/>
                <a:ea typeface="Lato"/>
                <a:cs typeface="Lato"/>
                <a:sym typeface="Lato"/>
              </a:rPr>
              <a:t>$2125</a:t>
            </a:r>
            <a:endParaRPr sz="3000" b="1">
              <a:solidFill>
                <a:srgbClr val="176160"/>
              </a:solidFill>
              <a:latin typeface="Lato"/>
              <a:ea typeface="Lato"/>
              <a:cs typeface="Lato"/>
              <a:sym typeface="Lato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rgbClr val="000000"/>
                </a:solidFill>
                <a:latin typeface="Lato Light"/>
                <a:ea typeface="Lato Light"/>
                <a:cs typeface="Lato Light"/>
                <a:sym typeface="Lato Light"/>
              </a:rPr>
              <a:t>Is the maximum fraudulent transaction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9"/>
          <p:cNvSpPr/>
          <p:nvPr/>
        </p:nvSpPr>
        <p:spPr>
          <a:xfrm>
            <a:off x="411500" y="3159575"/>
            <a:ext cx="3230100" cy="1019100"/>
          </a:xfrm>
          <a:prstGeom prst="roundRect">
            <a:avLst>
              <a:gd name="adj" fmla="val 16667"/>
            </a:avLst>
          </a:prstGeom>
          <a:solidFill>
            <a:srgbClr val="FAFAF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1" name="Google Shape;171;p19"/>
          <p:cNvSpPr/>
          <p:nvPr/>
        </p:nvSpPr>
        <p:spPr>
          <a:xfrm>
            <a:off x="411500" y="1848525"/>
            <a:ext cx="3230100" cy="1061100"/>
          </a:xfrm>
          <a:prstGeom prst="roundRect">
            <a:avLst>
              <a:gd name="adj" fmla="val 16667"/>
            </a:avLst>
          </a:prstGeom>
          <a:solidFill>
            <a:srgbClr val="FAFAF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19"/>
          <p:cNvSpPr txBox="1">
            <a:spLocks noGrp="1"/>
          </p:cNvSpPr>
          <p:nvPr>
            <p:ph type="title"/>
          </p:nvPr>
        </p:nvSpPr>
        <p:spPr>
          <a:xfrm>
            <a:off x="311700" y="447091"/>
            <a:ext cx="8520600" cy="134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latin typeface="Playfair Display SemiBold"/>
                <a:ea typeface="Playfair Display SemiBold"/>
                <a:cs typeface="Playfair Display SemiBold"/>
                <a:sym typeface="Playfair Display SemiBold"/>
              </a:rPr>
              <a:t>Key Drivers of Fraud</a:t>
            </a:r>
            <a:endParaRPr sz="3000">
              <a:latin typeface="Playfair Display SemiBold"/>
              <a:ea typeface="Playfair Display SemiBold"/>
              <a:cs typeface="Playfair Display SemiBold"/>
              <a:sym typeface="Playfair Display SemiBol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latin typeface="Lato Light"/>
                <a:ea typeface="Lato Light"/>
                <a:cs typeface="Lato Light"/>
                <a:sym typeface="Lato Light"/>
              </a:rPr>
              <a:t>The strongest anonymized variables (V‑numbers) that have the greatest influence on fraudulent activity.</a:t>
            </a:r>
            <a:endParaRPr sz="2000">
              <a:latin typeface="Lato Light"/>
              <a:ea typeface="Lato Light"/>
              <a:cs typeface="Lato Light"/>
              <a:sym typeface="Lato Light"/>
            </a:endParaRPr>
          </a:p>
        </p:txBody>
      </p:sp>
      <p:sp>
        <p:nvSpPr>
          <p:cNvPr id="173" name="Google Shape;173;p19"/>
          <p:cNvSpPr txBox="1">
            <a:spLocks noGrp="1"/>
          </p:cNvSpPr>
          <p:nvPr>
            <p:ph type="body" idx="1"/>
          </p:nvPr>
        </p:nvSpPr>
        <p:spPr>
          <a:xfrm>
            <a:off x="411500" y="1848525"/>
            <a:ext cx="3051300" cy="1019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b="1">
                <a:solidFill>
                  <a:srgbClr val="176160"/>
                </a:solidFill>
                <a:latin typeface="Lato"/>
                <a:ea typeface="Lato"/>
                <a:cs typeface="Lato"/>
                <a:sym typeface="Lato"/>
              </a:rPr>
              <a:t>Identifying the Signals</a:t>
            </a:r>
            <a:endParaRPr sz="1600" b="1">
              <a:solidFill>
                <a:srgbClr val="176160"/>
              </a:solidFill>
              <a:latin typeface="Lato"/>
              <a:ea typeface="Lato"/>
              <a:cs typeface="Lato"/>
              <a:sym typeface="Lato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000000"/>
                </a:solidFill>
                <a:latin typeface="Lato Light"/>
                <a:ea typeface="Lato Light"/>
                <a:cs typeface="Lato Light"/>
                <a:sym typeface="Lato Light"/>
              </a:rPr>
              <a:t>Because the dataset is fully anonymized for privacy, we must rely on correlation</a:t>
            </a:r>
            <a:endParaRPr sz="1600">
              <a:latin typeface="Lato Light"/>
              <a:ea typeface="Lato Light"/>
              <a:cs typeface="Lato Light"/>
              <a:sym typeface="Lato Light"/>
            </a:endParaRPr>
          </a:p>
        </p:txBody>
      </p:sp>
      <p:pic>
        <p:nvPicPr>
          <p:cNvPr id="174" name="Google Shape;174;p19" title="download-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8345" y="1794125"/>
            <a:ext cx="4118216" cy="3044575"/>
          </a:xfrm>
          <a:prstGeom prst="rect">
            <a:avLst/>
          </a:prstGeom>
          <a:noFill/>
          <a:ln>
            <a:noFill/>
          </a:ln>
        </p:spPr>
      </p:pic>
      <p:sp>
        <p:nvSpPr>
          <p:cNvPr id="175" name="Google Shape;175;p19"/>
          <p:cNvSpPr txBox="1">
            <a:spLocks noGrp="1"/>
          </p:cNvSpPr>
          <p:nvPr>
            <p:ph type="body" idx="1"/>
          </p:nvPr>
        </p:nvSpPr>
        <p:spPr>
          <a:xfrm>
            <a:off x="411500" y="3159575"/>
            <a:ext cx="3165000" cy="1019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b="1">
                <a:solidFill>
                  <a:srgbClr val="176160"/>
                </a:solidFill>
                <a:latin typeface="Lato"/>
                <a:ea typeface="Lato"/>
                <a:cs typeface="Lato"/>
                <a:sym typeface="Lato"/>
              </a:rPr>
              <a:t>Positive and Negative Predictors</a:t>
            </a:r>
            <a:endParaRPr sz="1600" b="1">
              <a:solidFill>
                <a:srgbClr val="176160"/>
              </a:solidFill>
              <a:latin typeface="Lato"/>
              <a:ea typeface="Lato"/>
              <a:cs typeface="Lato"/>
              <a:sym typeface="Lato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000000"/>
                </a:solidFill>
                <a:latin typeface="Lato Light"/>
                <a:ea typeface="Lato Light"/>
                <a:cs typeface="Lato Light"/>
                <a:sym typeface="Lato Light"/>
              </a:rPr>
              <a:t>These gives our models the mathematical blueprint needed to detect organized attacks</a:t>
            </a:r>
            <a:endParaRPr sz="1500">
              <a:latin typeface="Lato Light"/>
              <a:ea typeface="Lato Light"/>
              <a:cs typeface="Lato Light"/>
              <a:sym typeface="Lato Light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20"/>
          <p:cNvSpPr/>
          <p:nvPr/>
        </p:nvSpPr>
        <p:spPr>
          <a:xfrm>
            <a:off x="2217825" y="4266775"/>
            <a:ext cx="6926400" cy="5709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1" name="Google Shape;181;p20"/>
          <p:cNvSpPr/>
          <p:nvPr/>
        </p:nvSpPr>
        <p:spPr>
          <a:xfrm>
            <a:off x="2217825" y="3240100"/>
            <a:ext cx="6926400" cy="5709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2" name="Google Shape;182;p20"/>
          <p:cNvSpPr/>
          <p:nvPr/>
        </p:nvSpPr>
        <p:spPr>
          <a:xfrm>
            <a:off x="2217825" y="2156575"/>
            <a:ext cx="6926400" cy="5709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3" name="Google Shape;183;p2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134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latin typeface="Playfair Display SemiBold"/>
                <a:ea typeface="Playfair Display SemiBold"/>
                <a:cs typeface="Playfair Display SemiBold"/>
                <a:sym typeface="Playfair Display SemiBold"/>
              </a:rPr>
              <a:t>Preparing the Data</a:t>
            </a:r>
            <a:endParaRPr sz="3000">
              <a:latin typeface="Playfair Display SemiBold"/>
              <a:ea typeface="Playfair Display SemiBold"/>
              <a:cs typeface="Playfair Display SemiBold"/>
              <a:sym typeface="Playfair Display SemiBol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latin typeface="Lato Light"/>
                <a:ea typeface="Lato Light"/>
                <a:cs typeface="Lato Light"/>
                <a:sym typeface="Lato Light"/>
              </a:rPr>
              <a:t>Turning raw transaction logs into a trustworthy, model‑ready dataset</a:t>
            </a:r>
            <a:endParaRPr sz="2000">
              <a:latin typeface="Lato Light"/>
              <a:ea typeface="Lato Light"/>
              <a:cs typeface="Lato Light"/>
              <a:sym typeface="Lato Light"/>
            </a:endParaRPr>
          </a:p>
        </p:txBody>
      </p:sp>
      <p:sp>
        <p:nvSpPr>
          <p:cNvPr id="184" name="Google Shape;184;p20"/>
          <p:cNvSpPr txBox="1">
            <a:spLocks noGrp="1"/>
          </p:cNvSpPr>
          <p:nvPr>
            <p:ph type="body" idx="1"/>
          </p:nvPr>
        </p:nvSpPr>
        <p:spPr>
          <a:xfrm>
            <a:off x="2217825" y="2147875"/>
            <a:ext cx="6658875" cy="67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What we did: 	</a:t>
            </a:r>
            <a:r>
              <a:rPr lang="en" sz="1200" dirty="0">
                <a:solidFill>
                  <a:srgbClr val="000000"/>
                </a:solidFill>
                <a:latin typeface="Lato Light"/>
                <a:ea typeface="Lato Light"/>
                <a:cs typeface="Lato Light"/>
                <a:sym typeface="Lato Light"/>
              </a:rPr>
              <a:t>Retained duplicate transactions and large monetary outliers </a:t>
            </a:r>
            <a:endParaRPr sz="1200" dirty="0">
              <a:solidFill>
                <a:srgbClr val="000000"/>
              </a:solidFill>
              <a:latin typeface="Lato Light"/>
              <a:ea typeface="Lato Light"/>
              <a:cs typeface="Lato Light"/>
              <a:sym typeface="Lato Light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Why it matters: </a:t>
            </a:r>
            <a:r>
              <a:rPr lang="en" sz="1200" dirty="0">
                <a:solidFill>
                  <a:srgbClr val="000000"/>
                </a:solidFill>
                <a:latin typeface="Lato Light"/>
                <a:ea typeface="Lato Light"/>
                <a:cs typeface="Lato Light"/>
                <a:sym typeface="Lato Light"/>
              </a:rPr>
              <a:t> 	Duplicates and outliers demonstrate real-world patterns</a:t>
            </a:r>
            <a:endParaRPr sz="1200" dirty="0">
              <a:solidFill>
                <a:srgbClr val="000000"/>
              </a:solidFill>
              <a:latin typeface="Lato Light"/>
              <a:ea typeface="Lato Light"/>
              <a:cs typeface="Lato Light"/>
              <a:sym typeface="Lato Light"/>
            </a:endParaRPr>
          </a:p>
          <a:p>
            <a:pPr marL="91440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dirty="0">
              <a:solidFill>
                <a:srgbClr val="000000"/>
              </a:solidFill>
              <a:latin typeface="Lato Light"/>
              <a:ea typeface="Lato Light"/>
              <a:cs typeface="Lato Light"/>
              <a:sym typeface="Lato Light"/>
            </a:endParaRPr>
          </a:p>
        </p:txBody>
      </p:sp>
      <p:sp>
        <p:nvSpPr>
          <p:cNvPr id="185" name="Google Shape;185;p20"/>
          <p:cNvSpPr txBox="1">
            <a:spLocks noGrp="1"/>
          </p:cNvSpPr>
          <p:nvPr>
            <p:ph type="body" idx="1"/>
          </p:nvPr>
        </p:nvSpPr>
        <p:spPr>
          <a:xfrm>
            <a:off x="2217825" y="3240100"/>
            <a:ext cx="7094499" cy="67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What we did: 	</a:t>
            </a:r>
            <a:r>
              <a:rPr lang="en" sz="1200" dirty="0">
                <a:solidFill>
                  <a:srgbClr val="000000"/>
                </a:solidFill>
                <a:latin typeface="Lato Light"/>
                <a:ea typeface="Lato Light"/>
                <a:cs typeface="Lato Light"/>
                <a:sym typeface="Lato Light"/>
              </a:rPr>
              <a:t>Evaluated and engineered features to maximize predictive signal</a:t>
            </a:r>
            <a:endParaRPr sz="1200" dirty="0">
              <a:solidFill>
                <a:srgbClr val="000000"/>
              </a:solidFill>
              <a:latin typeface="Lato Light"/>
              <a:ea typeface="Lato Light"/>
              <a:cs typeface="Lato Light"/>
              <a:sym typeface="Lato Light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Why it matters: 	</a:t>
            </a:r>
            <a:r>
              <a:rPr lang="en" sz="1200" dirty="0">
                <a:solidFill>
                  <a:srgbClr val="000000"/>
                </a:solidFill>
                <a:latin typeface="Lato Light"/>
                <a:ea typeface="Lato Light"/>
                <a:cs typeface="Lato Light"/>
                <a:sym typeface="Lato Light"/>
              </a:rPr>
              <a:t>Ensures the models receive the most informative version of every variable</a:t>
            </a:r>
            <a:endParaRPr sz="1200" dirty="0">
              <a:solidFill>
                <a:srgbClr val="000000"/>
              </a:solidFill>
              <a:latin typeface="Lato Light"/>
              <a:ea typeface="Lato Light"/>
              <a:cs typeface="Lato Light"/>
              <a:sym typeface="Lato Light"/>
            </a:endParaRPr>
          </a:p>
          <a:p>
            <a:pPr marL="91440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rgbClr val="000000"/>
              </a:solidFill>
              <a:latin typeface="Lato Light"/>
              <a:ea typeface="Lato Light"/>
              <a:cs typeface="Lato Light"/>
              <a:sym typeface="Lato Light"/>
            </a:endParaRPr>
          </a:p>
        </p:txBody>
      </p:sp>
      <p:sp>
        <p:nvSpPr>
          <p:cNvPr id="186" name="Google Shape;186;p20"/>
          <p:cNvSpPr txBox="1">
            <a:spLocks noGrp="1"/>
          </p:cNvSpPr>
          <p:nvPr>
            <p:ph type="body" idx="1"/>
          </p:nvPr>
        </p:nvSpPr>
        <p:spPr>
          <a:xfrm>
            <a:off x="2217826" y="4263375"/>
            <a:ext cx="6654400" cy="600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What we did: 	</a:t>
            </a:r>
            <a:r>
              <a:rPr lang="en" sz="1200" dirty="0">
                <a:solidFill>
                  <a:srgbClr val="000000"/>
                </a:solidFill>
                <a:latin typeface="Lato Light"/>
                <a:ea typeface="Lato Light"/>
                <a:cs typeface="Lato Light"/>
                <a:sym typeface="Lato Light"/>
              </a:rPr>
              <a:t>Isolated testing data before doing any modeling</a:t>
            </a:r>
            <a:endParaRPr sz="1200" dirty="0">
              <a:solidFill>
                <a:srgbClr val="000000"/>
              </a:solidFill>
              <a:latin typeface="Lato Light"/>
              <a:ea typeface="Lato Light"/>
              <a:cs typeface="Lato Light"/>
              <a:sym typeface="Lato Light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Why it matters: 	</a:t>
            </a:r>
            <a:r>
              <a:rPr lang="en" sz="1200" dirty="0">
                <a:solidFill>
                  <a:srgbClr val="000000"/>
                </a:solidFill>
                <a:latin typeface="Lato Light"/>
                <a:ea typeface="Lato Light"/>
                <a:cs typeface="Lato Light"/>
                <a:sym typeface="Lato Light"/>
              </a:rPr>
              <a:t>Guarantees that we can test accuracy of the models </a:t>
            </a:r>
            <a:endParaRPr sz="1200" dirty="0">
              <a:solidFill>
                <a:srgbClr val="000000"/>
              </a:solidFill>
              <a:latin typeface="Lato Light"/>
              <a:ea typeface="Lato Light"/>
              <a:cs typeface="Lato Light"/>
              <a:sym typeface="Lato Light"/>
            </a:endParaRPr>
          </a:p>
        </p:txBody>
      </p:sp>
      <p:sp>
        <p:nvSpPr>
          <p:cNvPr id="187" name="Google Shape;187;p20"/>
          <p:cNvSpPr txBox="1">
            <a:spLocks noGrp="1"/>
          </p:cNvSpPr>
          <p:nvPr>
            <p:ph type="body" idx="1"/>
          </p:nvPr>
        </p:nvSpPr>
        <p:spPr>
          <a:xfrm>
            <a:off x="317858" y="1761776"/>
            <a:ext cx="2460000" cy="441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rgbClr val="000000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rPr>
              <a:t>Preserving</a:t>
            </a:r>
            <a:endParaRPr sz="1600">
              <a:solidFill>
                <a:srgbClr val="000000"/>
              </a:solidFill>
              <a:latin typeface="Playfair Display SemiBold"/>
              <a:ea typeface="Playfair Display SemiBold"/>
              <a:cs typeface="Playfair Display SemiBold"/>
              <a:sym typeface="Playfair Display SemiBold"/>
            </a:endParaRPr>
          </a:p>
          <a:p>
            <a:pPr marL="91440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600">
              <a:solidFill>
                <a:srgbClr val="000000"/>
              </a:solidFill>
              <a:latin typeface="Lato Light"/>
              <a:ea typeface="Lato Light"/>
              <a:cs typeface="Lato Light"/>
              <a:sym typeface="Lato Light"/>
            </a:endParaRPr>
          </a:p>
        </p:txBody>
      </p:sp>
      <p:sp>
        <p:nvSpPr>
          <p:cNvPr id="188" name="Google Shape;188;p20"/>
          <p:cNvSpPr txBox="1">
            <a:spLocks noGrp="1"/>
          </p:cNvSpPr>
          <p:nvPr>
            <p:ph type="body" idx="1"/>
          </p:nvPr>
        </p:nvSpPr>
        <p:spPr>
          <a:xfrm>
            <a:off x="317858" y="2782576"/>
            <a:ext cx="2460000" cy="441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rgbClr val="000000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rPr>
              <a:t>Transforming </a:t>
            </a:r>
            <a:endParaRPr sz="1600">
              <a:solidFill>
                <a:srgbClr val="000000"/>
              </a:solidFill>
              <a:latin typeface="Lato Light"/>
              <a:ea typeface="Lato Light"/>
              <a:cs typeface="Lato Light"/>
              <a:sym typeface="Lato Light"/>
            </a:endParaRPr>
          </a:p>
        </p:txBody>
      </p:sp>
      <p:sp>
        <p:nvSpPr>
          <p:cNvPr id="189" name="Google Shape;189;p20"/>
          <p:cNvSpPr txBox="1">
            <a:spLocks noGrp="1"/>
          </p:cNvSpPr>
          <p:nvPr>
            <p:ph type="body" idx="1"/>
          </p:nvPr>
        </p:nvSpPr>
        <p:spPr>
          <a:xfrm>
            <a:off x="317858" y="3804049"/>
            <a:ext cx="2460000" cy="441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rgbClr val="000000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rPr>
              <a:t>Splitting </a:t>
            </a:r>
            <a:endParaRPr sz="1600">
              <a:solidFill>
                <a:srgbClr val="000000"/>
              </a:solidFill>
              <a:latin typeface="Lato Light"/>
              <a:ea typeface="Lato Light"/>
              <a:cs typeface="Lato Light"/>
              <a:sym typeface="Lato Light"/>
            </a:endParaRPr>
          </a:p>
        </p:txBody>
      </p:sp>
      <p:cxnSp>
        <p:nvCxnSpPr>
          <p:cNvPr id="190" name="Google Shape;190;p20"/>
          <p:cNvCxnSpPr/>
          <p:nvPr/>
        </p:nvCxnSpPr>
        <p:spPr>
          <a:xfrm>
            <a:off x="2375" y="2160900"/>
            <a:ext cx="9162600" cy="0"/>
          </a:xfrm>
          <a:prstGeom prst="straightConnector1">
            <a:avLst/>
          </a:prstGeom>
          <a:noFill/>
          <a:ln w="28575" cap="flat" cmpd="sng">
            <a:solidFill>
              <a:srgbClr val="17616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91" name="Google Shape;191;p20"/>
          <p:cNvCxnSpPr/>
          <p:nvPr/>
        </p:nvCxnSpPr>
        <p:spPr>
          <a:xfrm>
            <a:off x="-9300" y="3242775"/>
            <a:ext cx="9162600" cy="0"/>
          </a:xfrm>
          <a:prstGeom prst="straightConnector1">
            <a:avLst/>
          </a:prstGeom>
          <a:noFill/>
          <a:ln w="28575" cap="flat" cmpd="sng">
            <a:solidFill>
              <a:srgbClr val="17616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92" name="Google Shape;192;p20"/>
          <p:cNvCxnSpPr/>
          <p:nvPr/>
        </p:nvCxnSpPr>
        <p:spPr>
          <a:xfrm>
            <a:off x="-9300" y="4263375"/>
            <a:ext cx="9162600" cy="0"/>
          </a:xfrm>
          <a:prstGeom prst="straightConnector1">
            <a:avLst/>
          </a:prstGeom>
          <a:noFill/>
          <a:ln w="28575" cap="flat" cmpd="sng">
            <a:solidFill>
              <a:srgbClr val="17616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21"/>
          <p:cNvSpPr/>
          <p:nvPr/>
        </p:nvSpPr>
        <p:spPr>
          <a:xfrm>
            <a:off x="410314" y="1882699"/>
            <a:ext cx="2227200" cy="28377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rgbClr val="17616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8" name="Google Shape;198;p21"/>
          <p:cNvSpPr/>
          <p:nvPr/>
        </p:nvSpPr>
        <p:spPr>
          <a:xfrm>
            <a:off x="6506475" y="1882699"/>
            <a:ext cx="2227200" cy="28377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rgbClr val="17616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21"/>
          <p:cNvSpPr/>
          <p:nvPr/>
        </p:nvSpPr>
        <p:spPr>
          <a:xfrm>
            <a:off x="3458400" y="1882700"/>
            <a:ext cx="2227200" cy="28377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rgbClr val="17616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0" name="Google Shape;200;p21"/>
          <p:cNvSpPr txBox="1">
            <a:spLocks noGrp="1"/>
          </p:cNvSpPr>
          <p:nvPr>
            <p:ph type="body" idx="1"/>
          </p:nvPr>
        </p:nvSpPr>
        <p:spPr>
          <a:xfrm>
            <a:off x="389225" y="1952850"/>
            <a:ext cx="2227200" cy="276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rPr>
              <a:t>Tooling</a:t>
            </a:r>
            <a:endParaRPr>
              <a:solidFill>
                <a:srgbClr val="000000"/>
              </a:solidFill>
              <a:latin typeface="Playfair Display SemiBold"/>
              <a:ea typeface="Playfair Display SemiBold"/>
              <a:cs typeface="Playfair Display SemiBold"/>
              <a:sym typeface="Playfair Display SemiBold"/>
            </a:endParaRPr>
          </a:p>
          <a:p>
            <a:pPr marL="9144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latin typeface="Lato Light"/>
                <a:ea typeface="Lato Light"/>
                <a:cs typeface="Lato Light"/>
                <a:sym typeface="Lato Light"/>
              </a:rPr>
              <a:t>Built within a notebook environment (Colab)</a:t>
            </a:r>
            <a:endParaRPr sz="1400">
              <a:latin typeface="Lato Light"/>
              <a:ea typeface="Lato Light"/>
              <a:cs typeface="Lato Light"/>
              <a:sym typeface="Lato Light"/>
            </a:endParaRPr>
          </a:p>
          <a:p>
            <a:pPr marL="9144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latin typeface="Lato Light"/>
                <a:ea typeface="Lato Light"/>
                <a:cs typeface="Lato Light"/>
                <a:sym typeface="Lato Light"/>
              </a:rPr>
              <a:t>Developed in Python 3 using pandas, scikit-learn, and Matplotlib</a:t>
            </a:r>
            <a:endParaRPr sz="1400">
              <a:latin typeface="Lato Light"/>
              <a:ea typeface="Lato Light"/>
              <a:cs typeface="Lato Light"/>
              <a:sym typeface="Lato Light"/>
            </a:endParaRPr>
          </a:p>
          <a:p>
            <a:pPr marL="9144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latin typeface="Lato Light"/>
                <a:ea typeface="Lato Light"/>
                <a:cs typeface="Lato Light"/>
                <a:sym typeface="Lato Light"/>
              </a:rPr>
              <a:t>Relied entirely on CPU-based training</a:t>
            </a:r>
            <a:endParaRPr sz="1400">
              <a:latin typeface="Lato Light"/>
              <a:ea typeface="Lato Light"/>
              <a:cs typeface="Lato Light"/>
              <a:sym typeface="Lato Light"/>
            </a:endParaRPr>
          </a:p>
          <a:p>
            <a:pPr marL="91440" lvl="0" indent="0" algn="l" rtl="0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400">
              <a:latin typeface="Lato Light"/>
              <a:ea typeface="Lato Light"/>
              <a:cs typeface="Lato Light"/>
              <a:sym typeface="Lato Light"/>
            </a:endParaRPr>
          </a:p>
        </p:txBody>
      </p:sp>
      <p:sp>
        <p:nvSpPr>
          <p:cNvPr id="201" name="Google Shape;201;p2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13491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latin typeface="Playfair Display SemiBold"/>
                <a:ea typeface="Playfair Display SemiBold"/>
                <a:cs typeface="Playfair Display SemiBold"/>
                <a:sym typeface="Playfair Display SemiBold"/>
              </a:rPr>
              <a:t>Methodology and Tools</a:t>
            </a:r>
            <a:endParaRPr sz="3000">
              <a:latin typeface="Playfair Display SemiBold"/>
              <a:ea typeface="Playfair Display SemiBold"/>
              <a:cs typeface="Playfair Display SemiBold"/>
              <a:sym typeface="Playfair Display SemiBol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latin typeface="Lato Light"/>
                <a:ea typeface="Lato Light"/>
                <a:cs typeface="Lato Light"/>
                <a:sym typeface="Lato Light"/>
              </a:rPr>
              <a:t>Building a simple, fast Fraud-Detection pipeline</a:t>
            </a:r>
            <a:endParaRPr sz="2000">
              <a:latin typeface="Lato Light"/>
              <a:ea typeface="Lato Light"/>
              <a:cs typeface="Lato Light"/>
              <a:sym typeface="Lato Light"/>
            </a:endParaRPr>
          </a:p>
        </p:txBody>
      </p:sp>
      <p:sp>
        <p:nvSpPr>
          <p:cNvPr id="202" name="Google Shape;202;p21"/>
          <p:cNvSpPr txBox="1">
            <a:spLocks noGrp="1"/>
          </p:cNvSpPr>
          <p:nvPr>
            <p:ph type="body" idx="1"/>
          </p:nvPr>
        </p:nvSpPr>
        <p:spPr>
          <a:xfrm>
            <a:off x="3458400" y="1952850"/>
            <a:ext cx="2227200" cy="268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rPr>
              <a:t>Evaluation </a:t>
            </a:r>
            <a:endParaRPr>
              <a:solidFill>
                <a:srgbClr val="000000"/>
              </a:solidFill>
              <a:latin typeface="Playfair Display SemiBold"/>
              <a:ea typeface="Playfair Display SemiBold"/>
              <a:cs typeface="Playfair Display SemiBold"/>
              <a:sym typeface="Playfair Display SemiBold"/>
            </a:endParaRPr>
          </a:p>
          <a:p>
            <a:pPr marL="9144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latin typeface="Lato Light"/>
                <a:ea typeface="Lato Light"/>
                <a:cs typeface="Lato Light"/>
                <a:sym typeface="Lato Light"/>
              </a:rPr>
              <a:t>Standard accuracy is misleading in this dataset </a:t>
            </a:r>
            <a:endParaRPr sz="1400">
              <a:latin typeface="Lato Light"/>
              <a:ea typeface="Lato Light"/>
              <a:cs typeface="Lato Light"/>
              <a:sym typeface="Lato Light"/>
            </a:endParaRPr>
          </a:p>
          <a:p>
            <a:pPr marL="91440" lvl="0" indent="0" algn="l" rtl="0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latin typeface="Lato Light"/>
                <a:ea typeface="Lato Light"/>
                <a:cs typeface="Lato Light"/>
                <a:sym typeface="Lato Light"/>
              </a:rPr>
              <a:t>Primary metric: PR-AUC</a:t>
            </a:r>
            <a:endParaRPr sz="1400">
              <a:latin typeface="Lato Light"/>
              <a:ea typeface="Lato Light"/>
              <a:cs typeface="Lato Light"/>
              <a:sym typeface="Lato Light"/>
            </a:endParaRPr>
          </a:p>
        </p:txBody>
      </p:sp>
      <p:sp>
        <p:nvSpPr>
          <p:cNvPr id="203" name="Google Shape;203;p21"/>
          <p:cNvSpPr txBox="1">
            <a:spLocks noGrp="1"/>
          </p:cNvSpPr>
          <p:nvPr>
            <p:ph type="body" idx="1"/>
          </p:nvPr>
        </p:nvSpPr>
        <p:spPr>
          <a:xfrm>
            <a:off x="6506475" y="1952525"/>
            <a:ext cx="2227200" cy="276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rgbClr val="000000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Decisions</a:t>
            </a:r>
            <a:endParaRPr b="1">
              <a:solidFill>
                <a:srgbClr val="000000"/>
              </a:solidFill>
              <a:latin typeface="Playfair Display"/>
              <a:ea typeface="Playfair Display"/>
              <a:cs typeface="Playfair Display"/>
              <a:sym typeface="Playfair Display"/>
            </a:endParaRPr>
          </a:p>
          <a:p>
            <a:pPr marL="9144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400">
                <a:latin typeface="Lato Light"/>
                <a:ea typeface="Lato Light"/>
                <a:cs typeface="Lato Light"/>
                <a:sym typeface="Lato Light"/>
              </a:rPr>
              <a:t>Class imbalance handling</a:t>
            </a:r>
            <a:endParaRPr sz="1400">
              <a:latin typeface="Lato Light"/>
              <a:ea typeface="Lato Light"/>
              <a:cs typeface="Lato Light"/>
              <a:sym typeface="Lato Light"/>
            </a:endParaRPr>
          </a:p>
          <a:p>
            <a:pPr marL="9144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400">
                <a:latin typeface="Lato Light"/>
                <a:ea typeface="Lato Light"/>
                <a:cs typeface="Lato Light"/>
                <a:sym typeface="Lato Light"/>
              </a:rPr>
              <a:t>Threshold as a  business lever</a:t>
            </a:r>
            <a:endParaRPr sz="1400">
              <a:latin typeface="Lato Light"/>
              <a:ea typeface="Lato Light"/>
              <a:cs typeface="Lato Light"/>
              <a:sym typeface="Lato Light"/>
            </a:endParaRPr>
          </a:p>
          <a:p>
            <a:pPr marL="9144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400">
                <a:latin typeface="Lato Light"/>
                <a:ea typeface="Lato Light"/>
                <a:cs typeface="Lato Light"/>
                <a:sym typeface="Lato Light"/>
              </a:rPr>
              <a:t>Small-Sample caveat</a:t>
            </a:r>
            <a:endParaRPr sz="1400">
              <a:latin typeface="Lato Light"/>
              <a:ea typeface="Lato Light"/>
              <a:cs typeface="Lato Light"/>
              <a:sym typeface="Lato Light"/>
            </a:endParaRPr>
          </a:p>
        </p:txBody>
      </p:sp>
      <p:cxnSp>
        <p:nvCxnSpPr>
          <p:cNvPr id="204" name="Google Shape;204;p21"/>
          <p:cNvCxnSpPr/>
          <p:nvPr/>
        </p:nvCxnSpPr>
        <p:spPr>
          <a:xfrm>
            <a:off x="597641" y="2406216"/>
            <a:ext cx="1443300" cy="0"/>
          </a:xfrm>
          <a:prstGeom prst="straightConnector1">
            <a:avLst/>
          </a:prstGeom>
          <a:noFill/>
          <a:ln w="9525" cap="flat" cmpd="sng">
            <a:solidFill>
              <a:srgbClr val="E3EBEF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05" name="Google Shape;205;p21"/>
          <p:cNvCxnSpPr/>
          <p:nvPr/>
        </p:nvCxnSpPr>
        <p:spPr>
          <a:xfrm>
            <a:off x="3644191" y="2406216"/>
            <a:ext cx="1443300" cy="0"/>
          </a:xfrm>
          <a:prstGeom prst="straightConnector1">
            <a:avLst/>
          </a:prstGeom>
          <a:noFill/>
          <a:ln w="9525" cap="flat" cmpd="sng">
            <a:solidFill>
              <a:srgbClr val="E3EBEF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21"/>
          <p:cNvCxnSpPr/>
          <p:nvPr/>
        </p:nvCxnSpPr>
        <p:spPr>
          <a:xfrm>
            <a:off x="6727366" y="2406216"/>
            <a:ext cx="1443300" cy="0"/>
          </a:xfrm>
          <a:prstGeom prst="straightConnector1">
            <a:avLst/>
          </a:prstGeom>
          <a:noFill/>
          <a:ln w="9525" cap="flat" cmpd="sng">
            <a:solidFill>
              <a:srgbClr val="E3EBEF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07" name="Google Shape;207;p21"/>
          <p:cNvCxnSpPr/>
          <p:nvPr/>
        </p:nvCxnSpPr>
        <p:spPr>
          <a:xfrm>
            <a:off x="2769550" y="3052250"/>
            <a:ext cx="556800" cy="0"/>
          </a:xfrm>
          <a:prstGeom prst="straightConnector1">
            <a:avLst/>
          </a:prstGeom>
          <a:noFill/>
          <a:ln w="9525" cap="flat" cmpd="sng">
            <a:solidFill>
              <a:srgbClr val="176160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208" name="Google Shape;208;p21"/>
          <p:cNvCxnSpPr/>
          <p:nvPr/>
        </p:nvCxnSpPr>
        <p:spPr>
          <a:xfrm>
            <a:off x="5849538" y="3052250"/>
            <a:ext cx="556800" cy="0"/>
          </a:xfrm>
          <a:prstGeom prst="straightConnector1">
            <a:avLst/>
          </a:prstGeom>
          <a:noFill/>
          <a:ln w="9525" cap="flat" cmpd="sng">
            <a:solidFill>
              <a:srgbClr val="176160"/>
            </a:solidFill>
            <a:prstDash val="solid"/>
            <a:round/>
            <a:headEnd type="none" w="med" len="med"/>
            <a:tailEnd type="oval" w="med" len="med"/>
          </a:ln>
        </p:spPr>
      </p:cxn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2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95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latin typeface="Playfair Display SemiBold"/>
                <a:ea typeface="Playfair Display SemiBold"/>
                <a:cs typeface="Playfair Display SemiBold"/>
                <a:sym typeface="Playfair Display SemiBold"/>
              </a:rPr>
              <a:t>Models Evaluated</a:t>
            </a:r>
            <a:endParaRPr sz="3000">
              <a:latin typeface="Playfair Display SemiBold"/>
              <a:ea typeface="Playfair Display SemiBold"/>
              <a:cs typeface="Playfair Display SemiBold"/>
              <a:sym typeface="Playfair Display SemiBol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latin typeface="Lato Light"/>
                <a:ea typeface="Lato Light"/>
                <a:cs typeface="Lato Light"/>
                <a:sym typeface="Lato Light"/>
              </a:rPr>
              <a:t>Choosing the right algorithm for a rare-fraud problem</a:t>
            </a:r>
            <a:endParaRPr sz="2000">
              <a:latin typeface="Lato Light"/>
              <a:ea typeface="Lato Light"/>
              <a:cs typeface="Lato Light"/>
              <a:sym typeface="Lato Light"/>
            </a:endParaRPr>
          </a:p>
        </p:txBody>
      </p:sp>
      <p:sp>
        <p:nvSpPr>
          <p:cNvPr id="214" name="Google Shape;214;p22"/>
          <p:cNvSpPr txBox="1">
            <a:spLocks noGrp="1"/>
          </p:cNvSpPr>
          <p:nvPr>
            <p:ph type="body" idx="1"/>
          </p:nvPr>
        </p:nvSpPr>
        <p:spPr>
          <a:xfrm>
            <a:off x="311700" y="1624775"/>
            <a:ext cx="4086000" cy="50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rgbClr val="000000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rPr>
              <a:t>Logistic Regression (LR)</a:t>
            </a:r>
            <a:endParaRPr sz="1400">
              <a:latin typeface="Lato Light"/>
              <a:ea typeface="Lato Light"/>
              <a:cs typeface="Lato Light"/>
              <a:sym typeface="Lato Light"/>
            </a:endParaRPr>
          </a:p>
          <a:p>
            <a:pPr marL="9144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400">
              <a:latin typeface="Lato Light"/>
              <a:ea typeface="Lato Light"/>
              <a:cs typeface="Lato Light"/>
              <a:sym typeface="Lato Light"/>
            </a:endParaRPr>
          </a:p>
          <a:p>
            <a:pPr marL="91440" lvl="0" indent="0" algn="l" rtl="0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400">
              <a:latin typeface="Lato Light"/>
              <a:ea typeface="Lato Light"/>
              <a:cs typeface="Lato Light"/>
              <a:sym typeface="Lato Light"/>
            </a:endParaRPr>
          </a:p>
        </p:txBody>
      </p:sp>
      <p:sp>
        <p:nvSpPr>
          <p:cNvPr id="215" name="Google Shape;215;p22"/>
          <p:cNvSpPr txBox="1">
            <a:spLocks noGrp="1"/>
          </p:cNvSpPr>
          <p:nvPr>
            <p:ph type="body" idx="1"/>
          </p:nvPr>
        </p:nvSpPr>
        <p:spPr>
          <a:xfrm>
            <a:off x="311700" y="3203976"/>
            <a:ext cx="4086000" cy="50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rgbClr val="000000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rPr>
              <a:t>Linear Discriminant Analysis (LDA)</a:t>
            </a:r>
            <a:endParaRPr sz="1400">
              <a:latin typeface="Lato Light"/>
              <a:ea typeface="Lato Light"/>
              <a:cs typeface="Lato Light"/>
              <a:sym typeface="Lato Light"/>
            </a:endParaRPr>
          </a:p>
          <a:p>
            <a:pPr marL="9144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400">
              <a:latin typeface="Lato Light"/>
              <a:ea typeface="Lato Light"/>
              <a:cs typeface="Lato Light"/>
              <a:sym typeface="Lato Light"/>
            </a:endParaRPr>
          </a:p>
          <a:p>
            <a:pPr marL="91440" lvl="0" indent="0" algn="l" rtl="0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400">
              <a:latin typeface="Lato Light"/>
              <a:ea typeface="Lato Light"/>
              <a:cs typeface="Lato Light"/>
              <a:sym typeface="Lato Light"/>
            </a:endParaRPr>
          </a:p>
        </p:txBody>
      </p:sp>
      <p:sp>
        <p:nvSpPr>
          <p:cNvPr id="216" name="Google Shape;216;p22"/>
          <p:cNvSpPr txBox="1">
            <a:spLocks noGrp="1"/>
          </p:cNvSpPr>
          <p:nvPr>
            <p:ph type="body" idx="1"/>
          </p:nvPr>
        </p:nvSpPr>
        <p:spPr>
          <a:xfrm>
            <a:off x="311700" y="2374575"/>
            <a:ext cx="4086000" cy="50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rgbClr val="000000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rPr>
              <a:t>K-Nearest Neighbors (KNN)</a:t>
            </a:r>
            <a:endParaRPr sz="1400">
              <a:latin typeface="Lato Light"/>
              <a:ea typeface="Lato Light"/>
              <a:cs typeface="Lato Light"/>
              <a:sym typeface="Lato Light"/>
            </a:endParaRPr>
          </a:p>
          <a:p>
            <a:pPr marL="91440" lvl="0" indent="0" algn="l" rtl="0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400">
              <a:latin typeface="Lato Light"/>
              <a:ea typeface="Lato Light"/>
              <a:cs typeface="Lato Light"/>
              <a:sym typeface="Lato Light"/>
            </a:endParaRPr>
          </a:p>
        </p:txBody>
      </p:sp>
      <p:sp>
        <p:nvSpPr>
          <p:cNvPr id="217" name="Google Shape;217;p22"/>
          <p:cNvSpPr txBox="1">
            <a:spLocks noGrp="1"/>
          </p:cNvSpPr>
          <p:nvPr>
            <p:ph type="body" idx="1"/>
          </p:nvPr>
        </p:nvSpPr>
        <p:spPr>
          <a:xfrm>
            <a:off x="311700" y="4018575"/>
            <a:ext cx="4086000" cy="55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rgbClr val="000000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rPr>
              <a:t>Quadratic Discriminant Analysis (QDA)</a:t>
            </a:r>
            <a:endParaRPr sz="1400">
              <a:latin typeface="Lato Light"/>
              <a:ea typeface="Lato Light"/>
              <a:cs typeface="Lato Light"/>
              <a:sym typeface="Lato Light"/>
            </a:endParaRPr>
          </a:p>
          <a:p>
            <a:pPr marL="9144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400">
              <a:latin typeface="Lato Light"/>
              <a:ea typeface="Lato Light"/>
              <a:cs typeface="Lato Light"/>
              <a:sym typeface="Lato Light"/>
            </a:endParaRPr>
          </a:p>
          <a:p>
            <a:pPr marL="91440" lvl="0" indent="0" algn="l" rtl="0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400">
              <a:latin typeface="Lato Light"/>
              <a:ea typeface="Lato Light"/>
              <a:cs typeface="Lato Light"/>
              <a:sym typeface="Lato Light"/>
            </a:endParaRPr>
          </a:p>
        </p:txBody>
      </p:sp>
      <p:cxnSp>
        <p:nvCxnSpPr>
          <p:cNvPr id="218" name="Google Shape;218;p22"/>
          <p:cNvCxnSpPr/>
          <p:nvPr/>
        </p:nvCxnSpPr>
        <p:spPr>
          <a:xfrm>
            <a:off x="393100" y="4435975"/>
            <a:ext cx="8227800" cy="0"/>
          </a:xfrm>
          <a:prstGeom prst="straightConnector1">
            <a:avLst/>
          </a:prstGeom>
          <a:noFill/>
          <a:ln w="9525" cap="flat" cmpd="sng">
            <a:solidFill>
              <a:srgbClr val="17616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9" name="Google Shape;219;p22"/>
          <p:cNvCxnSpPr/>
          <p:nvPr/>
        </p:nvCxnSpPr>
        <p:spPr>
          <a:xfrm>
            <a:off x="393100" y="3617750"/>
            <a:ext cx="8227800" cy="0"/>
          </a:xfrm>
          <a:prstGeom prst="straightConnector1">
            <a:avLst/>
          </a:prstGeom>
          <a:noFill/>
          <a:ln w="9525" cap="flat" cmpd="sng">
            <a:solidFill>
              <a:srgbClr val="17616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0" name="Google Shape;220;p22"/>
          <p:cNvCxnSpPr/>
          <p:nvPr/>
        </p:nvCxnSpPr>
        <p:spPr>
          <a:xfrm>
            <a:off x="393100" y="2799525"/>
            <a:ext cx="8227800" cy="0"/>
          </a:xfrm>
          <a:prstGeom prst="straightConnector1">
            <a:avLst/>
          </a:prstGeom>
          <a:noFill/>
          <a:ln w="9525" cap="flat" cmpd="sng">
            <a:solidFill>
              <a:srgbClr val="17616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1" name="Google Shape;221;p22"/>
          <p:cNvCxnSpPr/>
          <p:nvPr/>
        </p:nvCxnSpPr>
        <p:spPr>
          <a:xfrm>
            <a:off x="393100" y="2053675"/>
            <a:ext cx="8227800" cy="0"/>
          </a:xfrm>
          <a:prstGeom prst="straightConnector1">
            <a:avLst/>
          </a:prstGeom>
          <a:noFill/>
          <a:ln w="9525" cap="flat" cmpd="sng">
            <a:solidFill>
              <a:srgbClr val="17616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22" name="Google Shape;222;p22"/>
          <p:cNvSpPr txBox="1"/>
          <p:nvPr/>
        </p:nvSpPr>
        <p:spPr>
          <a:xfrm>
            <a:off x="3575957" y="2046350"/>
            <a:ext cx="5126618" cy="36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2"/>
                </a:solidFill>
                <a:latin typeface="Lato Light"/>
                <a:ea typeface="Lato Light"/>
                <a:cs typeface="Lato Light"/>
                <a:sym typeface="Lato Light"/>
              </a:rPr>
              <a:t>transparent baseline that ensures rare fraud cases aren’t ignored</a:t>
            </a:r>
            <a:endParaRPr sz="1800" dirty="0">
              <a:solidFill>
                <a:schemeClr val="dk2"/>
              </a:solidFill>
            </a:endParaRPr>
          </a:p>
        </p:txBody>
      </p:sp>
      <p:sp>
        <p:nvSpPr>
          <p:cNvPr id="223" name="Google Shape;223;p22"/>
          <p:cNvSpPr txBox="1"/>
          <p:nvPr/>
        </p:nvSpPr>
        <p:spPr>
          <a:xfrm>
            <a:off x="3224893" y="2817700"/>
            <a:ext cx="5477582" cy="36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" dirty="0">
                <a:solidFill>
                  <a:schemeClr val="dk2"/>
                </a:solidFill>
                <a:latin typeface="Lato Light"/>
                <a:ea typeface="Lato Light"/>
                <a:cs typeface="Lato Light"/>
                <a:sym typeface="Lato Light"/>
              </a:rPr>
              <a:t>captures unusual fraud patterns without any data‑shape assumptions</a:t>
            </a:r>
            <a:endParaRPr sz="1800" dirty="0">
              <a:solidFill>
                <a:schemeClr val="dk2"/>
              </a:solidFill>
            </a:endParaRPr>
          </a:p>
        </p:txBody>
      </p:sp>
      <p:sp>
        <p:nvSpPr>
          <p:cNvPr id="224" name="Google Shape;224;p22"/>
          <p:cNvSpPr txBox="1"/>
          <p:nvPr/>
        </p:nvSpPr>
        <p:spPr>
          <a:xfrm>
            <a:off x="4196443" y="3617748"/>
            <a:ext cx="4635857" cy="4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">
                <a:solidFill>
                  <a:schemeClr val="dk2"/>
                </a:solidFill>
                <a:latin typeface="Lato Light"/>
                <a:ea typeface="Lato Light"/>
                <a:cs typeface="Lato Light"/>
                <a:sym typeface="Lato Light"/>
              </a:rPr>
              <a:t>checks to see how strict assumptions affect performance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225" name="Google Shape;225;p22"/>
          <p:cNvSpPr txBox="1"/>
          <p:nvPr/>
        </p:nvSpPr>
        <p:spPr>
          <a:xfrm>
            <a:off x="3771900" y="4435975"/>
            <a:ext cx="5113025" cy="4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" dirty="0">
                <a:solidFill>
                  <a:schemeClr val="dk2"/>
                </a:solidFill>
                <a:latin typeface="Lato Light"/>
                <a:ea typeface="Lato Light"/>
                <a:cs typeface="Lato Light"/>
                <a:sym typeface="Lato Light"/>
              </a:rPr>
              <a:t>flexible model that lets each class have its own shape/variance</a:t>
            </a:r>
            <a:endParaRPr sz="1800" dirty="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23"/>
          <p:cNvSpPr/>
          <p:nvPr/>
        </p:nvSpPr>
        <p:spPr>
          <a:xfrm>
            <a:off x="4824900" y="3034200"/>
            <a:ext cx="3742800" cy="314400"/>
          </a:xfrm>
          <a:prstGeom prst="roundRect">
            <a:avLst>
              <a:gd name="adj" fmla="val 16667"/>
            </a:avLst>
          </a:prstGeom>
          <a:solidFill>
            <a:srgbClr val="17616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1" name="Google Shape;231;p23"/>
          <p:cNvSpPr/>
          <p:nvPr/>
        </p:nvSpPr>
        <p:spPr>
          <a:xfrm>
            <a:off x="4824850" y="1679600"/>
            <a:ext cx="3742800" cy="807600"/>
          </a:xfrm>
          <a:prstGeom prst="roundRect">
            <a:avLst>
              <a:gd name="adj" fmla="val 16667"/>
            </a:avLst>
          </a:prstGeom>
          <a:solidFill>
            <a:srgbClr val="E3EBE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32" name="Google Shape;232;p23" title="Screenshot 2026-08-28 at 2.13.15 PM.png"/>
          <p:cNvPicPr preferRelativeResize="0"/>
          <p:nvPr/>
        </p:nvPicPr>
        <p:blipFill rotWithShape="1">
          <a:blip r:embed="rId3">
            <a:alphaModFix/>
          </a:blip>
          <a:srcRect l="3695" r="3686"/>
          <a:stretch/>
        </p:blipFill>
        <p:spPr>
          <a:xfrm>
            <a:off x="485059" y="1402518"/>
            <a:ext cx="3836099" cy="3599226"/>
          </a:xfrm>
          <a:prstGeom prst="rect">
            <a:avLst/>
          </a:prstGeom>
          <a:noFill/>
          <a:ln>
            <a:noFill/>
          </a:ln>
        </p:spPr>
      </p:pic>
      <p:sp>
        <p:nvSpPr>
          <p:cNvPr id="233" name="Google Shape;233;p23"/>
          <p:cNvSpPr txBox="1">
            <a:spLocks noGrp="1"/>
          </p:cNvSpPr>
          <p:nvPr>
            <p:ph type="title"/>
          </p:nvPr>
        </p:nvSpPr>
        <p:spPr>
          <a:xfrm>
            <a:off x="308600" y="445025"/>
            <a:ext cx="8608800" cy="96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latin typeface="Playfair Display SemiBold"/>
                <a:ea typeface="Playfair Display SemiBold"/>
                <a:cs typeface="Playfair Display SemiBold"/>
                <a:sym typeface="Playfair Display SemiBold"/>
              </a:rPr>
              <a:t>Model Performance</a:t>
            </a:r>
            <a:endParaRPr sz="3000">
              <a:latin typeface="Playfair Display SemiBold"/>
              <a:ea typeface="Playfair Display SemiBold"/>
              <a:cs typeface="Playfair Display SemiBold"/>
              <a:sym typeface="Playfair Display SemiBol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latin typeface="Lato Light"/>
                <a:ea typeface="Lato Light"/>
                <a:cs typeface="Lato Light"/>
                <a:sym typeface="Lato Light"/>
              </a:rPr>
              <a:t>KNN - the best balance of precision and recall</a:t>
            </a:r>
            <a:endParaRPr sz="2000">
              <a:latin typeface="Lato Light"/>
              <a:ea typeface="Lato Light"/>
              <a:cs typeface="Lato Light"/>
              <a:sym typeface="Lato Light"/>
            </a:endParaRPr>
          </a:p>
        </p:txBody>
      </p:sp>
      <p:sp>
        <p:nvSpPr>
          <p:cNvPr id="234" name="Google Shape;234;p23"/>
          <p:cNvSpPr txBox="1"/>
          <p:nvPr/>
        </p:nvSpPr>
        <p:spPr>
          <a:xfrm>
            <a:off x="4909300" y="1662250"/>
            <a:ext cx="3658200" cy="80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Lato Light"/>
                <a:ea typeface="Lato Light"/>
                <a:cs typeface="Lato Light"/>
                <a:sym typeface="Lato Light"/>
              </a:rPr>
              <a:t>KNN has the highest PR-AUC (0.841)</a:t>
            </a:r>
            <a:endParaRPr>
              <a:solidFill>
                <a:schemeClr val="dk1"/>
              </a:solidFill>
              <a:latin typeface="Lato Light"/>
              <a:ea typeface="Lato Light"/>
              <a:cs typeface="Lato Light"/>
              <a:sym typeface="Lato Light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Lato Light"/>
                <a:ea typeface="Lato Light"/>
                <a:cs typeface="Lato Light"/>
                <a:sym typeface="Lato Light"/>
              </a:rPr>
              <a:t>It catches fraud while keeping false alarms low</a:t>
            </a:r>
            <a:endParaRPr>
              <a:solidFill>
                <a:schemeClr val="dk1"/>
              </a:solidFill>
              <a:latin typeface="Lato Light"/>
              <a:ea typeface="Lato Light"/>
              <a:cs typeface="Lato Light"/>
              <a:sym typeface="Lato Light"/>
            </a:endParaRPr>
          </a:p>
        </p:txBody>
      </p:sp>
      <p:graphicFrame>
        <p:nvGraphicFramePr>
          <p:cNvPr id="235" name="Google Shape;235;p23"/>
          <p:cNvGraphicFramePr/>
          <p:nvPr/>
        </p:nvGraphicFramePr>
        <p:xfrm>
          <a:off x="4824763" y="3034200"/>
          <a:ext cx="3742700" cy="1571625"/>
        </p:xfrm>
        <a:graphic>
          <a:graphicData uri="http://schemas.openxmlformats.org/drawingml/2006/table">
            <a:tbl>
              <a:tblPr>
                <a:noFill/>
                <a:tableStyleId>{F0E093DD-0024-4F0C-8D27-423A577BA0CF}</a:tableStyleId>
              </a:tblPr>
              <a:tblGrid>
                <a:gridCol w="528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2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2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42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428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143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Model</a:t>
                      </a:r>
                      <a:endParaRPr sz="1000" b="1">
                        <a:solidFill>
                          <a:srgbClr val="FFFFFF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50800" marB="50800" anchor="ctr">
                    <a:lnL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Precision</a:t>
                      </a:r>
                      <a:endParaRPr sz="1000" b="1">
                        <a:solidFill>
                          <a:srgbClr val="FFFFFF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50800" marB="50800" anchor="ctr">
                    <a:lnL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Recall</a:t>
                      </a:r>
                      <a:endParaRPr sz="1000" b="1">
                        <a:solidFill>
                          <a:srgbClr val="FFFFFF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50800" marB="50800" anchor="ctr">
                    <a:lnL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F1</a:t>
                      </a:r>
                      <a:endParaRPr sz="1000" b="1">
                        <a:solidFill>
                          <a:srgbClr val="FFFFFF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50800" marB="50800" anchor="ctr">
                    <a:lnL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ROC-AUC</a:t>
                      </a:r>
                      <a:endParaRPr sz="1000" b="1">
                        <a:solidFill>
                          <a:srgbClr val="FFFFFF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50800" marB="50800" anchor="ctr">
                    <a:lnL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PR-AUC</a:t>
                      </a:r>
                      <a:endParaRPr sz="1000" b="1">
                        <a:solidFill>
                          <a:srgbClr val="FFFFFF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50800" marB="50800" anchor="ctr">
                    <a:lnL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3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b="1">
                          <a:solidFill>
                            <a:srgbClr val="17616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KNN</a:t>
                      </a:r>
                      <a:endParaRPr sz="1000" b="1">
                        <a:solidFill>
                          <a:srgbClr val="17616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50800" marB="50800" anchor="ctr">
                    <a:lnL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b="1">
                          <a:solidFill>
                            <a:srgbClr val="17616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0.908</a:t>
                      </a:r>
                      <a:endParaRPr sz="1000" b="1">
                        <a:solidFill>
                          <a:srgbClr val="17616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50800" marB="508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b="1">
                          <a:solidFill>
                            <a:srgbClr val="17616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0.806</a:t>
                      </a:r>
                      <a:endParaRPr sz="1000" b="1">
                        <a:solidFill>
                          <a:srgbClr val="17616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50800" marB="508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b="1">
                          <a:solidFill>
                            <a:srgbClr val="17616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0.854</a:t>
                      </a:r>
                      <a:endParaRPr sz="1000" b="1">
                        <a:solidFill>
                          <a:srgbClr val="17616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50800" marB="508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b="1">
                          <a:solidFill>
                            <a:srgbClr val="17616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0.944</a:t>
                      </a:r>
                      <a:endParaRPr sz="1000" b="1">
                        <a:solidFill>
                          <a:srgbClr val="17616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50800" marB="508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b="1">
                          <a:solidFill>
                            <a:srgbClr val="17616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0.841</a:t>
                      </a:r>
                      <a:endParaRPr sz="1000" b="1">
                        <a:solidFill>
                          <a:srgbClr val="17616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50800" marB="508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43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B7B7B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LR</a:t>
                      </a:r>
                      <a:endParaRPr sz="1000">
                        <a:solidFill>
                          <a:srgbClr val="B7B7B7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50800" marB="50800" anchor="ctr">
                    <a:lnL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B7B7B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0.056</a:t>
                      </a:r>
                      <a:endParaRPr sz="1000">
                        <a:solidFill>
                          <a:srgbClr val="B7B7B7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50800" marB="508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B7B7B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0.908</a:t>
                      </a:r>
                      <a:endParaRPr sz="1000">
                        <a:solidFill>
                          <a:srgbClr val="B7B7B7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50800" marB="508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B7B7B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0.106</a:t>
                      </a:r>
                      <a:endParaRPr sz="1000">
                        <a:solidFill>
                          <a:srgbClr val="B7B7B7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50800" marB="508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B7B7B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0.972</a:t>
                      </a:r>
                      <a:endParaRPr sz="1000">
                        <a:solidFill>
                          <a:srgbClr val="B7B7B7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50800" marB="508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B7B7B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0.714</a:t>
                      </a:r>
                      <a:endParaRPr sz="1000">
                        <a:solidFill>
                          <a:srgbClr val="B7B7B7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50800" marB="508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43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66666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LDA</a:t>
                      </a:r>
                      <a:endParaRPr sz="1000">
                        <a:solidFill>
                          <a:srgbClr val="66666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50800" marB="50800" anchor="ctr">
                    <a:lnL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66666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0.823</a:t>
                      </a:r>
                      <a:endParaRPr sz="1000">
                        <a:solidFill>
                          <a:srgbClr val="66666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50800" marB="508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66666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0.806</a:t>
                      </a:r>
                      <a:endParaRPr sz="1000">
                        <a:solidFill>
                          <a:srgbClr val="66666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50800" marB="508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66666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0.814</a:t>
                      </a:r>
                      <a:endParaRPr sz="1000">
                        <a:solidFill>
                          <a:srgbClr val="66666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50800" marB="508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66666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0.981</a:t>
                      </a:r>
                      <a:endParaRPr sz="1000">
                        <a:solidFill>
                          <a:srgbClr val="66666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50800" marB="508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66666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0.708</a:t>
                      </a:r>
                      <a:endParaRPr sz="1000">
                        <a:solidFill>
                          <a:srgbClr val="66666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50800" marB="508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43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2D2D2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QDA</a:t>
                      </a:r>
                      <a:endParaRPr sz="1000">
                        <a:solidFill>
                          <a:srgbClr val="2D2D2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50800" marB="50800" anchor="ctr">
                    <a:lnL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2D2D2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0.061</a:t>
                      </a:r>
                      <a:endParaRPr sz="1000">
                        <a:solidFill>
                          <a:srgbClr val="2D2D2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50800" marB="508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2D2D2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0.878</a:t>
                      </a:r>
                      <a:endParaRPr sz="1000">
                        <a:solidFill>
                          <a:srgbClr val="2D2D2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50800" marB="508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2D2D2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0.114</a:t>
                      </a:r>
                      <a:endParaRPr sz="1000">
                        <a:solidFill>
                          <a:srgbClr val="2D2D2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50800" marB="508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2D2D2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0.964</a:t>
                      </a:r>
                      <a:endParaRPr sz="1000">
                        <a:solidFill>
                          <a:srgbClr val="2D2D2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50800" marB="508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2D2D2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0.144</a:t>
                      </a:r>
                      <a:endParaRPr sz="1000">
                        <a:solidFill>
                          <a:srgbClr val="2D2D2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50800" marB="508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cxnSp>
        <p:nvCxnSpPr>
          <p:cNvPr id="236" name="Google Shape;236;p23"/>
          <p:cNvCxnSpPr/>
          <p:nvPr/>
        </p:nvCxnSpPr>
        <p:spPr>
          <a:xfrm>
            <a:off x="4829075" y="3662850"/>
            <a:ext cx="3734100" cy="0"/>
          </a:xfrm>
          <a:prstGeom prst="straightConnector1">
            <a:avLst/>
          </a:prstGeom>
          <a:noFill/>
          <a:ln w="9525" cap="flat" cmpd="sng">
            <a:solidFill>
              <a:srgbClr val="D9D9D9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7" name="Google Shape;237;p23"/>
          <p:cNvCxnSpPr/>
          <p:nvPr/>
        </p:nvCxnSpPr>
        <p:spPr>
          <a:xfrm>
            <a:off x="4829075" y="3977175"/>
            <a:ext cx="3734100" cy="0"/>
          </a:xfrm>
          <a:prstGeom prst="straightConnector1">
            <a:avLst/>
          </a:prstGeom>
          <a:noFill/>
          <a:ln w="9525" cap="flat" cmpd="sng">
            <a:solidFill>
              <a:srgbClr val="D9D9D9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8" name="Google Shape;238;p23"/>
          <p:cNvCxnSpPr/>
          <p:nvPr/>
        </p:nvCxnSpPr>
        <p:spPr>
          <a:xfrm>
            <a:off x="4829075" y="4291500"/>
            <a:ext cx="3734100" cy="0"/>
          </a:xfrm>
          <a:prstGeom prst="straightConnector1">
            <a:avLst/>
          </a:prstGeom>
          <a:noFill/>
          <a:ln w="9525" cap="flat" cmpd="sng">
            <a:solidFill>
              <a:srgbClr val="D9D9D9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9" name="Google Shape;239;p23"/>
          <p:cNvCxnSpPr/>
          <p:nvPr/>
        </p:nvCxnSpPr>
        <p:spPr>
          <a:xfrm>
            <a:off x="4829075" y="4605825"/>
            <a:ext cx="3734100" cy="0"/>
          </a:xfrm>
          <a:prstGeom prst="straightConnector1">
            <a:avLst/>
          </a:prstGeom>
          <a:noFill/>
          <a:ln w="9525" cap="flat" cmpd="sng">
            <a:solidFill>
              <a:srgbClr val="D9D9D9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4"/>
          <p:cNvSpPr/>
          <p:nvPr/>
        </p:nvSpPr>
        <p:spPr>
          <a:xfrm>
            <a:off x="4789775" y="1664850"/>
            <a:ext cx="3937800" cy="1063500"/>
          </a:xfrm>
          <a:prstGeom prst="roundRect">
            <a:avLst>
              <a:gd name="adj" fmla="val 16667"/>
            </a:avLst>
          </a:prstGeom>
          <a:solidFill>
            <a:srgbClr val="17616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24"/>
          <p:cNvSpPr/>
          <p:nvPr/>
        </p:nvSpPr>
        <p:spPr>
          <a:xfrm>
            <a:off x="466325" y="2986075"/>
            <a:ext cx="3937800" cy="1659900"/>
          </a:xfrm>
          <a:prstGeom prst="roundRect">
            <a:avLst>
              <a:gd name="adj" fmla="val 7082"/>
            </a:avLst>
          </a:prstGeom>
          <a:solidFill>
            <a:srgbClr val="FAFAF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6" name="Google Shape;246;p24"/>
          <p:cNvSpPr/>
          <p:nvPr/>
        </p:nvSpPr>
        <p:spPr>
          <a:xfrm>
            <a:off x="466325" y="2986075"/>
            <a:ext cx="3937800" cy="493500"/>
          </a:xfrm>
          <a:prstGeom prst="roundRect">
            <a:avLst>
              <a:gd name="adj" fmla="val 16667"/>
            </a:avLst>
          </a:prstGeom>
          <a:solidFill>
            <a:srgbClr val="176161"/>
          </a:solidFill>
          <a:ln w="9525" cap="flat" cmpd="sng">
            <a:solidFill>
              <a:srgbClr val="17616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7" name="Google Shape;247;p24"/>
          <p:cNvSpPr txBox="1">
            <a:spLocks noGrp="1"/>
          </p:cNvSpPr>
          <p:nvPr>
            <p:ph type="title"/>
          </p:nvPr>
        </p:nvSpPr>
        <p:spPr>
          <a:xfrm>
            <a:off x="308600" y="445025"/>
            <a:ext cx="8608800" cy="96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latin typeface="Playfair Display SemiBold"/>
                <a:ea typeface="Playfair Display SemiBold"/>
                <a:cs typeface="Playfair Display SemiBold"/>
                <a:sym typeface="Playfair Display SemiBold"/>
              </a:rPr>
              <a:t>Model Performance</a:t>
            </a:r>
            <a:endParaRPr sz="3000">
              <a:latin typeface="Playfair Display SemiBold"/>
              <a:ea typeface="Playfair Display SemiBold"/>
              <a:cs typeface="Playfair Display SemiBold"/>
              <a:sym typeface="Playfair Display SemiBol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latin typeface="Lato Light"/>
                <a:ea typeface="Lato Light"/>
                <a:cs typeface="Lato Light"/>
                <a:sym typeface="Lato Light"/>
              </a:rPr>
              <a:t>KNN - the best balance of precision and recall</a:t>
            </a:r>
            <a:endParaRPr sz="2000">
              <a:latin typeface="Lato Light"/>
              <a:ea typeface="Lato Light"/>
              <a:cs typeface="Lato Light"/>
              <a:sym typeface="Lato Light"/>
            </a:endParaRPr>
          </a:p>
        </p:txBody>
      </p:sp>
      <p:graphicFrame>
        <p:nvGraphicFramePr>
          <p:cNvPr id="248" name="Google Shape;248;p24"/>
          <p:cNvGraphicFramePr/>
          <p:nvPr/>
        </p:nvGraphicFramePr>
        <p:xfrm>
          <a:off x="520992" y="2986075"/>
          <a:ext cx="3883225" cy="1659800"/>
        </p:xfrm>
        <a:graphic>
          <a:graphicData uri="http://schemas.openxmlformats.org/drawingml/2006/table">
            <a:tbl>
              <a:tblPr>
                <a:noFill/>
                <a:tableStyleId>{F0E093DD-0024-4F0C-8D27-423A577BA0CF}</a:tableStyleId>
              </a:tblPr>
              <a:tblGrid>
                <a:gridCol w="519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10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410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410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410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935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b="1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Model</a:t>
                      </a:r>
                      <a:endParaRPr sz="1100" b="1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50800" marB="50800" anchor="ctr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b="1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True Positives</a:t>
                      </a:r>
                      <a:endParaRPr sz="1100" b="1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50800" marB="50800" anchor="ctr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b="1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False Positives</a:t>
                      </a:r>
                      <a:endParaRPr sz="1100" b="1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50800" marB="50800" anchor="ctr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b="1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False Negatives</a:t>
                      </a:r>
                      <a:endParaRPr sz="1100" b="1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50800" marB="50800" anchor="ctr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b="1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True Negatives</a:t>
                      </a:r>
                      <a:endParaRPr sz="1100" b="1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50800" marB="50800" anchor="ctr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15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b="1">
                          <a:solidFill>
                            <a:srgbClr val="17616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KNN</a:t>
                      </a:r>
                      <a:endParaRPr sz="1100" b="1">
                        <a:solidFill>
                          <a:srgbClr val="17616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50800" marB="50800" anchor="ctr">
                    <a:lnL w="9525" cap="flat" cmpd="sng">
                      <a:solidFill>
                        <a:srgbClr val="D9D9D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b="1">
                          <a:solidFill>
                            <a:srgbClr val="17616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79</a:t>
                      </a:r>
                      <a:endParaRPr sz="1100" b="1">
                        <a:solidFill>
                          <a:srgbClr val="17616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50800" marB="50800" anchor="ctr">
                    <a:lnL w="9525" cap="flat" cmpd="sng">
                      <a:solidFill>
                        <a:srgbClr val="D9D9D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b="1">
                          <a:solidFill>
                            <a:srgbClr val="17616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</a:t>
                      </a:r>
                      <a:endParaRPr sz="1100" b="1">
                        <a:solidFill>
                          <a:srgbClr val="17616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50800" marB="50800" anchor="ctr">
                    <a:lnL w="9525" cap="flat" cmpd="sng">
                      <a:solidFill>
                        <a:srgbClr val="D9D9D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b="1">
                          <a:solidFill>
                            <a:srgbClr val="17616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19</a:t>
                      </a:r>
                      <a:endParaRPr sz="1100" b="1">
                        <a:solidFill>
                          <a:srgbClr val="17616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50800" marB="50800" anchor="ctr">
                    <a:lnL w="9525" cap="flat" cmpd="sng">
                      <a:solidFill>
                        <a:srgbClr val="D9D9D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b="1">
                          <a:solidFill>
                            <a:srgbClr val="17616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56,856</a:t>
                      </a:r>
                      <a:endParaRPr sz="1100" b="1">
                        <a:solidFill>
                          <a:srgbClr val="17616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50800" marB="50800" anchor="ctr">
                    <a:lnL w="9525" cap="flat" cmpd="sng">
                      <a:solidFill>
                        <a:srgbClr val="D9D9D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15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>
                          <a:solidFill>
                            <a:srgbClr val="99999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LR</a:t>
                      </a:r>
                      <a:endParaRPr sz="1100">
                        <a:solidFill>
                          <a:srgbClr val="99999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50800" marB="50800" anchor="ctr">
                    <a:lnL w="9525" cap="flat" cmpd="sng">
                      <a:solidFill>
                        <a:srgbClr val="D9D9D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>
                          <a:solidFill>
                            <a:srgbClr val="99999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89</a:t>
                      </a:r>
                      <a:endParaRPr sz="1100">
                        <a:solidFill>
                          <a:srgbClr val="99999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50800" marB="50800" anchor="ctr">
                    <a:lnL w="9525" cap="flat" cmpd="sng">
                      <a:solidFill>
                        <a:srgbClr val="D9D9D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>
                          <a:solidFill>
                            <a:srgbClr val="99999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1,492</a:t>
                      </a:r>
                      <a:endParaRPr sz="1100">
                        <a:solidFill>
                          <a:srgbClr val="99999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50800" marB="50800" anchor="ctr">
                    <a:lnL w="9525" cap="flat" cmpd="sng">
                      <a:solidFill>
                        <a:srgbClr val="D9D9D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>
                          <a:solidFill>
                            <a:srgbClr val="99999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</a:t>
                      </a:r>
                      <a:endParaRPr sz="1100">
                        <a:solidFill>
                          <a:srgbClr val="99999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50800" marB="50800" anchor="ctr">
                    <a:lnL w="9525" cap="flat" cmpd="sng">
                      <a:solidFill>
                        <a:srgbClr val="D9D9D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>
                          <a:solidFill>
                            <a:srgbClr val="99999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55,372</a:t>
                      </a:r>
                      <a:endParaRPr sz="1100">
                        <a:solidFill>
                          <a:srgbClr val="99999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50800" marB="50800" anchor="ctr">
                    <a:lnL w="9525" cap="flat" cmpd="sng">
                      <a:solidFill>
                        <a:srgbClr val="D9D9D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15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>
                          <a:solidFill>
                            <a:srgbClr val="66666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LDA</a:t>
                      </a:r>
                      <a:endParaRPr sz="1100">
                        <a:solidFill>
                          <a:srgbClr val="66666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50800" marB="50800" anchor="ctr">
                    <a:lnL w="9525" cap="flat" cmpd="sng">
                      <a:solidFill>
                        <a:srgbClr val="D9D9D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>
                          <a:solidFill>
                            <a:srgbClr val="66666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79</a:t>
                      </a:r>
                      <a:endParaRPr sz="1100">
                        <a:solidFill>
                          <a:srgbClr val="66666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50800" marB="50800" anchor="ctr">
                    <a:lnL w="9525" cap="flat" cmpd="sng">
                      <a:solidFill>
                        <a:srgbClr val="D9D9D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>
                          <a:solidFill>
                            <a:srgbClr val="66666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</a:t>
                      </a:r>
                      <a:endParaRPr sz="1100">
                        <a:solidFill>
                          <a:srgbClr val="66666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50800" marB="50800" anchor="ctr">
                    <a:lnL w="9525" cap="flat" cmpd="sng">
                      <a:solidFill>
                        <a:srgbClr val="D9D9D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>
                          <a:solidFill>
                            <a:srgbClr val="66666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19</a:t>
                      </a:r>
                      <a:endParaRPr sz="1100">
                        <a:solidFill>
                          <a:srgbClr val="66666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50800" marB="50800" anchor="ctr">
                    <a:lnL w="9525" cap="flat" cmpd="sng">
                      <a:solidFill>
                        <a:srgbClr val="D9D9D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>
                          <a:solidFill>
                            <a:srgbClr val="66666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56,847</a:t>
                      </a:r>
                      <a:endParaRPr sz="1100">
                        <a:solidFill>
                          <a:srgbClr val="66666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50800" marB="50800" anchor="ctr">
                    <a:lnL w="9525" cap="flat" cmpd="sng">
                      <a:solidFill>
                        <a:srgbClr val="D9D9D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15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QDA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50800" marB="50800" anchor="ctr">
                    <a:lnL w="9525" cap="flat" cmpd="sng">
                      <a:solidFill>
                        <a:srgbClr val="D9D9D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50800" marB="50800" anchor="ctr">
                    <a:lnL w="9525" cap="flat" cmpd="sng">
                      <a:solidFill>
                        <a:srgbClr val="D9D9D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1,327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50800" marB="50800" anchor="ctr">
                    <a:lnL w="9525" cap="flat" cmpd="sng">
                      <a:solidFill>
                        <a:srgbClr val="D9D9D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</a:t>
                      </a:r>
                      <a:endParaRPr sz="1100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50800" marB="50800" anchor="ctr">
                    <a:lnL w="9525" cap="flat" cmpd="sng">
                      <a:solidFill>
                        <a:srgbClr val="D9D9D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55,537</a:t>
                      </a:r>
                      <a:endParaRPr sz="1100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50800" marB="50800" anchor="ctr">
                    <a:lnL w="9525" cap="flat" cmpd="sng">
                      <a:solidFill>
                        <a:srgbClr val="D9D9D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49" name="Google Shape;249;p24"/>
          <p:cNvSpPr txBox="1"/>
          <p:nvPr/>
        </p:nvSpPr>
        <p:spPr>
          <a:xfrm>
            <a:off x="620264" y="1690510"/>
            <a:ext cx="3705000" cy="93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dirty="0">
                <a:latin typeface="Lato Light"/>
                <a:ea typeface="Lato Light"/>
                <a:cs typeface="Lato Light"/>
                <a:sym typeface="Lato Light"/>
              </a:rPr>
              <a:t>LDA 			    Fastest </a:t>
            </a:r>
            <a:endParaRPr sz="1200" dirty="0">
              <a:latin typeface="Lato Light"/>
              <a:ea typeface="Lato Light"/>
              <a:cs typeface="Lato Light"/>
              <a:sym typeface="Lato Light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dirty="0">
                <a:latin typeface="Lato Light"/>
                <a:ea typeface="Lato Light"/>
                <a:cs typeface="Lato Light"/>
                <a:sym typeface="Lato Light"/>
              </a:rPr>
              <a:t>LR  			    Fast </a:t>
            </a:r>
            <a:endParaRPr sz="1200" dirty="0">
              <a:latin typeface="Lato Light"/>
              <a:ea typeface="Lato Light"/>
              <a:cs typeface="Lato Light"/>
              <a:sym typeface="Lato Light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latin typeface="Lato Light"/>
                <a:ea typeface="Lato Light"/>
                <a:cs typeface="Lato Light"/>
                <a:sym typeface="Lato Light"/>
              </a:rPr>
              <a:t>QDA 			    Medium </a:t>
            </a:r>
            <a:endParaRPr sz="1200" dirty="0">
              <a:latin typeface="Lato Light"/>
              <a:ea typeface="Lato Light"/>
              <a:cs typeface="Lato Light"/>
              <a:sym typeface="Lato Light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dirty="0">
                <a:latin typeface="Lato Light"/>
                <a:ea typeface="Lato Light"/>
                <a:cs typeface="Lato Light"/>
                <a:sym typeface="Lato Light"/>
              </a:rPr>
              <a:t>KNN 			    Slow</a:t>
            </a:r>
            <a:endParaRPr sz="1200" dirty="0">
              <a:latin typeface="Lato Light"/>
              <a:ea typeface="Lato Light"/>
              <a:cs typeface="Lato Light"/>
              <a:sym typeface="Lato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dirty="0">
              <a:solidFill>
                <a:schemeClr val="dk2"/>
              </a:solidFill>
              <a:latin typeface="Lato Light"/>
              <a:ea typeface="Lato Light"/>
              <a:cs typeface="Lato Light"/>
              <a:sym typeface="Lato Light"/>
            </a:endParaRPr>
          </a:p>
        </p:txBody>
      </p:sp>
      <p:sp>
        <p:nvSpPr>
          <p:cNvPr id="250" name="Google Shape;250;p24"/>
          <p:cNvSpPr txBox="1"/>
          <p:nvPr/>
        </p:nvSpPr>
        <p:spPr>
          <a:xfrm>
            <a:off x="4912325" y="1751925"/>
            <a:ext cx="3692700" cy="976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" dirty="0">
                <a:solidFill>
                  <a:srgbClr val="FFFFFF"/>
                </a:solidFill>
                <a:latin typeface="Lato Light"/>
                <a:ea typeface="Lato Light"/>
                <a:cs typeface="Lato Light"/>
                <a:sym typeface="Lato Light"/>
              </a:rPr>
              <a:t>KNN delivers the fewest false positives while maintaining strong detection, making it the most reliable model for fraud detection</a:t>
            </a:r>
            <a:endParaRPr dirty="0">
              <a:solidFill>
                <a:srgbClr val="FFFFFF"/>
              </a:solidFill>
            </a:endParaRPr>
          </a:p>
        </p:txBody>
      </p:sp>
      <p:cxnSp>
        <p:nvCxnSpPr>
          <p:cNvPr id="251" name="Google Shape;251;p24"/>
          <p:cNvCxnSpPr/>
          <p:nvPr/>
        </p:nvCxnSpPr>
        <p:spPr>
          <a:xfrm>
            <a:off x="1141525" y="1918175"/>
            <a:ext cx="23970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dot"/>
            <a:round/>
            <a:headEnd type="none" w="med" len="med"/>
            <a:tailEnd type="none" w="med" len="med"/>
          </a:ln>
        </p:spPr>
      </p:cxnSp>
      <p:cxnSp>
        <p:nvCxnSpPr>
          <p:cNvPr id="252" name="Google Shape;252;p24"/>
          <p:cNvCxnSpPr/>
          <p:nvPr/>
        </p:nvCxnSpPr>
        <p:spPr>
          <a:xfrm>
            <a:off x="1141525" y="2116650"/>
            <a:ext cx="23970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dot"/>
            <a:round/>
            <a:headEnd type="none" w="med" len="med"/>
            <a:tailEnd type="none" w="med" len="med"/>
          </a:ln>
        </p:spPr>
      </p:cxnSp>
      <p:cxnSp>
        <p:nvCxnSpPr>
          <p:cNvPr id="253" name="Google Shape;253;p24"/>
          <p:cNvCxnSpPr/>
          <p:nvPr/>
        </p:nvCxnSpPr>
        <p:spPr>
          <a:xfrm>
            <a:off x="1141525" y="2304875"/>
            <a:ext cx="23970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dot"/>
            <a:round/>
            <a:headEnd type="none" w="med" len="med"/>
            <a:tailEnd type="none" w="med" len="med"/>
          </a:ln>
        </p:spPr>
      </p:cxnSp>
      <p:cxnSp>
        <p:nvCxnSpPr>
          <p:cNvPr id="254" name="Google Shape;254;p24"/>
          <p:cNvCxnSpPr/>
          <p:nvPr/>
        </p:nvCxnSpPr>
        <p:spPr>
          <a:xfrm>
            <a:off x="1141525" y="2503350"/>
            <a:ext cx="23970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dot"/>
            <a:round/>
            <a:headEnd type="none" w="med" len="med"/>
            <a:tailEnd type="none" w="med" len="med"/>
          </a:ln>
        </p:spPr>
      </p:cxnSp>
      <p:sp>
        <p:nvSpPr>
          <p:cNvPr id="255" name="Google Shape;255;p24"/>
          <p:cNvSpPr txBox="1"/>
          <p:nvPr/>
        </p:nvSpPr>
        <p:spPr>
          <a:xfrm>
            <a:off x="4912325" y="3135300"/>
            <a:ext cx="3815400" cy="176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1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rPr>
              <a:t>Deployment Fit</a:t>
            </a:r>
            <a:endParaRPr sz="2000">
              <a:solidFill>
                <a:schemeClr val="dk1"/>
              </a:solidFill>
              <a:latin typeface="Playfair Display SemiBold"/>
              <a:ea typeface="Playfair Display SemiBold"/>
              <a:cs typeface="Playfair Display SemiBold"/>
              <a:sym typeface="Playfair Display SemiBold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700">
              <a:solidFill>
                <a:schemeClr val="dk1"/>
              </a:solidFill>
              <a:latin typeface="Lato Light"/>
              <a:ea typeface="Lato Light"/>
              <a:cs typeface="Lato Light"/>
              <a:sym typeface="Lato Light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1"/>
                </a:solidFill>
                <a:latin typeface="Lato Light"/>
                <a:ea typeface="Lato Light"/>
                <a:cs typeface="Lato Light"/>
                <a:sym typeface="Lato Light"/>
              </a:rPr>
              <a:t>LDA:  Real-time scoring (&lt;100ms)</a:t>
            </a:r>
            <a:endParaRPr sz="1500">
              <a:solidFill>
                <a:schemeClr val="dk1"/>
              </a:solidFill>
              <a:latin typeface="Lato Light"/>
              <a:ea typeface="Lato Light"/>
              <a:cs typeface="Lato Light"/>
              <a:sym typeface="Lato Light"/>
            </a:endParaRPr>
          </a:p>
          <a:p>
            <a:pPr marL="0" marR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1"/>
                </a:solidFill>
                <a:latin typeface="Lato Light"/>
                <a:ea typeface="Lato Light"/>
                <a:cs typeface="Lato Light"/>
                <a:sym typeface="Lato Light"/>
              </a:rPr>
              <a:t>KNN:  Hourly batch re-scoring</a:t>
            </a:r>
            <a:endParaRPr sz="1600">
              <a:solidFill>
                <a:schemeClr val="dk1"/>
              </a:solidFill>
              <a:latin typeface="Lato Light"/>
              <a:ea typeface="Lato Light"/>
              <a:cs typeface="Lato Light"/>
              <a:sym typeface="Lato Light"/>
            </a:endParaRPr>
          </a:p>
        </p:txBody>
      </p:sp>
      <p:cxnSp>
        <p:nvCxnSpPr>
          <p:cNvPr id="256" name="Google Shape;256;p24"/>
          <p:cNvCxnSpPr/>
          <p:nvPr/>
        </p:nvCxnSpPr>
        <p:spPr>
          <a:xfrm>
            <a:off x="4988092" y="3666125"/>
            <a:ext cx="23970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dot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25"/>
          <p:cNvSpPr/>
          <p:nvPr/>
        </p:nvSpPr>
        <p:spPr>
          <a:xfrm>
            <a:off x="-6300" y="3940975"/>
            <a:ext cx="8692200" cy="70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2" name="Google Shape;262;p25"/>
          <p:cNvSpPr/>
          <p:nvPr/>
        </p:nvSpPr>
        <p:spPr>
          <a:xfrm>
            <a:off x="-6300" y="2437950"/>
            <a:ext cx="8520600" cy="70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3" name="Google Shape;263;p2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1110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latin typeface="Playfair Display SemiBold"/>
                <a:ea typeface="Playfair Display SemiBold"/>
                <a:cs typeface="Playfair Display SemiBold"/>
                <a:sym typeface="Playfair Display SemiBold"/>
              </a:rPr>
              <a:t>Business Impact</a:t>
            </a:r>
            <a:endParaRPr sz="3000">
              <a:latin typeface="Playfair Display SemiBold"/>
              <a:ea typeface="Playfair Display SemiBold"/>
              <a:cs typeface="Playfair Display SemiBold"/>
              <a:sym typeface="Playfair Display SemiBol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latin typeface="Lato Light"/>
                <a:ea typeface="Lato Light"/>
                <a:cs typeface="Lato Light"/>
                <a:sym typeface="Lato Light"/>
              </a:rPr>
              <a:t>Translating model accuracy into bottom-line saving</a:t>
            </a:r>
            <a:endParaRPr sz="2000">
              <a:latin typeface="Lato Light"/>
              <a:ea typeface="Lato Light"/>
              <a:cs typeface="Lato Light"/>
              <a:sym typeface="Lato Light"/>
            </a:endParaRPr>
          </a:p>
        </p:txBody>
      </p:sp>
      <p:sp>
        <p:nvSpPr>
          <p:cNvPr id="264" name="Google Shape;264;p25"/>
          <p:cNvSpPr txBox="1"/>
          <p:nvPr/>
        </p:nvSpPr>
        <p:spPr>
          <a:xfrm>
            <a:off x="415500" y="1897622"/>
            <a:ext cx="3153900" cy="130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4775" tIns="64775" rIns="64775" bIns="6477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rgbClr val="176161"/>
                </a:solidFill>
                <a:latin typeface="Lato Black"/>
                <a:ea typeface="Lato Black"/>
                <a:cs typeface="Lato Black"/>
                <a:sym typeface="Lato Black"/>
              </a:rPr>
              <a:t>$10,312</a:t>
            </a:r>
            <a:endParaRPr sz="3000">
              <a:solidFill>
                <a:srgbClr val="176161"/>
              </a:solidFill>
              <a:latin typeface="Lato Black"/>
              <a:ea typeface="Lato Black"/>
              <a:cs typeface="Lato Black"/>
              <a:sym typeface="Lato Black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792">
                <a:solidFill>
                  <a:schemeClr val="dk1"/>
                </a:solidFill>
                <a:latin typeface="Lato Light"/>
                <a:ea typeface="Lato Light"/>
                <a:cs typeface="Lato Light"/>
                <a:sym typeface="Lato Light"/>
              </a:rPr>
              <a:t>Net savings on a sample of recent transactions</a:t>
            </a:r>
            <a:endParaRPr sz="1792">
              <a:solidFill>
                <a:schemeClr val="dk1"/>
              </a:solidFill>
              <a:latin typeface="Lato Light"/>
              <a:ea typeface="Lato Light"/>
              <a:cs typeface="Lato Light"/>
              <a:sym typeface="Lato Light"/>
            </a:endParaRPr>
          </a:p>
        </p:txBody>
      </p:sp>
      <p:sp>
        <p:nvSpPr>
          <p:cNvPr id="265" name="Google Shape;265;p25"/>
          <p:cNvSpPr txBox="1"/>
          <p:nvPr/>
        </p:nvSpPr>
        <p:spPr>
          <a:xfrm>
            <a:off x="415500" y="3403900"/>
            <a:ext cx="2896200" cy="130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rgbClr val="176161"/>
                </a:solidFill>
                <a:latin typeface="Lato Black"/>
                <a:ea typeface="Lato Black"/>
                <a:cs typeface="Lato Black"/>
                <a:sym typeface="Lato Black"/>
              </a:rPr>
              <a:t>$50,000</a:t>
            </a:r>
            <a:endParaRPr sz="3000">
              <a:solidFill>
                <a:srgbClr val="176161"/>
              </a:solidFill>
              <a:latin typeface="Lato Black"/>
              <a:ea typeface="Lato Black"/>
              <a:cs typeface="Lato Black"/>
              <a:sym typeface="Lato Black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Lato Light"/>
                <a:ea typeface="Lato Light"/>
                <a:cs typeface="Lato Light"/>
                <a:sym typeface="Lato Light"/>
              </a:rPr>
              <a:t>Projected savings across a full 48-hour window</a:t>
            </a:r>
            <a:endParaRPr/>
          </a:p>
        </p:txBody>
      </p:sp>
      <p:cxnSp>
        <p:nvCxnSpPr>
          <p:cNvPr id="266" name="Google Shape;266;p25"/>
          <p:cNvCxnSpPr/>
          <p:nvPr/>
        </p:nvCxnSpPr>
        <p:spPr>
          <a:xfrm>
            <a:off x="3441925" y="2433225"/>
            <a:ext cx="8400" cy="2217000"/>
          </a:xfrm>
          <a:prstGeom prst="straightConnector1">
            <a:avLst/>
          </a:prstGeom>
          <a:noFill/>
          <a:ln w="228600" cap="flat" cmpd="sng">
            <a:solidFill>
              <a:srgbClr val="FFFFFF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267" name="Google Shape;267;p25" title="download-11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522471" y="1940680"/>
            <a:ext cx="5269801" cy="3028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26"/>
          <p:cNvSpPr/>
          <p:nvPr/>
        </p:nvSpPr>
        <p:spPr>
          <a:xfrm>
            <a:off x="-6300" y="3940982"/>
            <a:ext cx="9217500" cy="70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26"/>
          <p:cNvSpPr/>
          <p:nvPr/>
        </p:nvSpPr>
        <p:spPr>
          <a:xfrm>
            <a:off x="-6300" y="2437947"/>
            <a:ext cx="9144000" cy="70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4" name="Google Shape;274;p2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1110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latin typeface="Playfair Display SemiBold"/>
                <a:ea typeface="Playfair Display SemiBold"/>
                <a:cs typeface="Playfair Display SemiBold"/>
                <a:sym typeface="Playfair Display SemiBold"/>
              </a:rPr>
              <a:t>Business Impact</a:t>
            </a:r>
            <a:endParaRPr sz="3000">
              <a:latin typeface="Playfair Display SemiBold"/>
              <a:ea typeface="Playfair Display SemiBold"/>
              <a:cs typeface="Playfair Display SemiBold"/>
              <a:sym typeface="Playfair Display SemiBol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latin typeface="Lato Light"/>
                <a:ea typeface="Lato Light"/>
                <a:cs typeface="Lato Light"/>
                <a:sym typeface="Lato Light"/>
              </a:rPr>
              <a:t>Translating model accuracy into bottom-line saving</a:t>
            </a:r>
            <a:endParaRPr sz="2000">
              <a:latin typeface="Lato Light"/>
              <a:ea typeface="Lato Light"/>
              <a:cs typeface="Lato Light"/>
              <a:sym typeface="Lato Light"/>
            </a:endParaRPr>
          </a:p>
        </p:txBody>
      </p:sp>
      <p:sp>
        <p:nvSpPr>
          <p:cNvPr id="275" name="Google Shape;275;p26"/>
          <p:cNvSpPr txBox="1"/>
          <p:nvPr/>
        </p:nvSpPr>
        <p:spPr>
          <a:xfrm>
            <a:off x="415500" y="1897622"/>
            <a:ext cx="3153900" cy="130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4775" tIns="64775" rIns="64775" bIns="6477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rgbClr val="176161"/>
                </a:solidFill>
                <a:latin typeface="Lato Black"/>
                <a:ea typeface="Lato Black"/>
                <a:cs typeface="Lato Black"/>
                <a:sym typeface="Lato Black"/>
              </a:rPr>
              <a:t>$10,312</a:t>
            </a:r>
            <a:endParaRPr sz="3000">
              <a:solidFill>
                <a:srgbClr val="176161"/>
              </a:solidFill>
              <a:latin typeface="Lato Black"/>
              <a:ea typeface="Lato Black"/>
              <a:cs typeface="Lato Black"/>
              <a:sym typeface="Lato Black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792">
                <a:solidFill>
                  <a:schemeClr val="dk1"/>
                </a:solidFill>
                <a:latin typeface="Lato Light"/>
                <a:ea typeface="Lato Light"/>
                <a:cs typeface="Lato Light"/>
                <a:sym typeface="Lato Light"/>
              </a:rPr>
              <a:t>Net savings on a sample of recent transactions</a:t>
            </a:r>
            <a:endParaRPr sz="1792">
              <a:solidFill>
                <a:schemeClr val="dk1"/>
              </a:solidFill>
              <a:latin typeface="Lato Light"/>
              <a:ea typeface="Lato Light"/>
              <a:cs typeface="Lato Light"/>
              <a:sym typeface="Lato Light"/>
            </a:endParaRPr>
          </a:p>
        </p:txBody>
      </p:sp>
      <p:sp>
        <p:nvSpPr>
          <p:cNvPr id="276" name="Google Shape;276;p26"/>
          <p:cNvSpPr txBox="1"/>
          <p:nvPr/>
        </p:nvSpPr>
        <p:spPr>
          <a:xfrm>
            <a:off x="3744625" y="2093900"/>
            <a:ext cx="5154900" cy="116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1250" tIns="71250" rIns="71250" bIns="7125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869" b="1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Threshold Optimization</a:t>
            </a:r>
            <a:endParaRPr sz="1869" b="1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69">
                <a:solidFill>
                  <a:schemeClr val="dk1"/>
                </a:solidFill>
                <a:latin typeface="Lato Light"/>
                <a:ea typeface="Lato Light"/>
                <a:cs typeface="Lato Light"/>
                <a:sym typeface="Lato Light"/>
              </a:rPr>
              <a:t>Adjusted the fraud cutoff to catch more fraud without </a:t>
            </a:r>
            <a:endParaRPr sz="1669">
              <a:solidFill>
                <a:schemeClr val="dk1"/>
              </a:solidFill>
              <a:latin typeface="Lato Light"/>
              <a:ea typeface="Lato Light"/>
              <a:cs typeface="Lato Light"/>
              <a:sym typeface="Lato Light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69">
                <a:solidFill>
                  <a:schemeClr val="dk1"/>
                </a:solidFill>
                <a:latin typeface="Lato Light"/>
                <a:ea typeface="Lato Light"/>
                <a:cs typeface="Lato Light"/>
                <a:sym typeface="Lato Light"/>
              </a:rPr>
              <a:t>Optimal cutoff   0.159</a:t>
            </a:r>
            <a:endParaRPr sz="1669">
              <a:solidFill>
                <a:schemeClr val="dk1"/>
              </a:solidFill>
              <a:latin typeface="Lato Light"/>
              <a:ea typeface="Lato Light"/>
              <a:cs typeface="Lato Light"/>
              <a:sym typeface="Lato Light"/>
            </a:endParaRPr>
          </a:p>
        </p:txBody>
      </p:sp>
      <p:sp>
        <p:nvSpPr>
          <p:cNvPr id="277" name="Google Shape;277;p26"/>
          <p:cNvSpPr txBox="1"/>
          <p:nvPr/>
        </p:nvSpPr>
        <p:spPr>
          <a:xfrm>
            <a:off x="0" y="4751250"/>
            <a:ext cx="9144000" cy="39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10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>
                <a:solidFill>
                  <a:srgbClr val="2D2D2D"/>
                </a:solidFill>
                <a:latin typeface="Lato Hairline"/>
                <a:ea typeface="Lato Hairline"/>
                <a:cs typeface="Lato Hairline"/>
                <a:sym typeface="Lato Hairline"/>
              </a:rPr>
              <a:t>Based on an average fraud loss of $122.21 and an estimated $5.00 cost per manual review</a:t>
            </a:r>
            <a:endParaRPr sz="1900">
              <a:solidFill>
                <a:schemeClr val="dk2"/>
              </a:solidFill>
              <a:latin typeface="Lato Hairline"/>
              <a:ea typeface="Lato Hairline"/>
              <a:cs typeface="Lato Hairline"/>
              <a:sym typeface="Lato Hairline"/>
            </a:endParaRPr>
          </a:p>
        </p:txBody>
      </p:sp>
      <p:sp>
        <p:nvSpPr>
          <p:cNvPr id="278" name="Google Shape;278;p26"/>
          <p:cNvSpPr txBox="1"/>
          <p:nvPr/>
        </p:nvSpPr>
        <p:spPr>
          <a:xfrm>
            <a:off x="415500" y="3403900"/>
            <a:ext cx="2896200" cy="130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rgbClr val="176161"/>
                </a:solidFill>
                <a:latin typeface="Lato Black"/>
                <a:ea typeface="Lato Black"/>
                <a:cs typeface="Lato Black"/>
                <a:sym typeface="Lato Black"/>
              </a:rPr>
              <a:t>$50,000</a:t>
            </a:r>
            <a:endParaRPr sz="3000">
              <a:solidFill>
                <a:srgbClr val="176161"/>
              </a:solidFill>
              <a:latin typeface="Lato Black"/>
              <a:ea typeface="Lato Black"/>
              <a:cs typeface="Lato Black"/>
              <a:sym typeface="Lato Black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Lato Light"/>
                <a:ea typeface="Lato Light"/>
                <a:cs typeface="Lato Light"/>
                <a:sym typeface="Lato Light"/>
              </a:rPr>
              <a:t>Projected savings across a full 48-hour window</a:t>
            </a:r>
            <a:endParaRPr/>
          </a:p>
        </p:txBody>
      </p:sp>
      <p:sp>
        <p:nvSpPr>
          <p:cNvPr id="279" name="Google Shape;279;p26"/>
          <p:cNvSpPr txBox="1"/>
          <p:nvPr/>
        </p:nvSpPr>
        <p:spPr>
          <a:xfrm>
            <a:off x="3744625" y="3564650"/>
            <a:ext cx="4977300" cy="106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869" b="1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The math</a:t>
            </a:r>
            <a:endParaRPr sz="1869" b="1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69">
                <a:solidFill>
                  <a:schemeClr val="dk1"/>
                </a:solidFill>
                <a:latin typeface="Lato Light"/>
                <a:ea typeface="Lato Light"/>
                <a:cs typeface="Lato Light"/>
                <a:sym typeface="Lato Light"/>
              </a:rPr>
              <a:t>Fraud losses prevented minus the cost of reviewing flagged transactions</a:t>
            </a:r>
            <a:endParaRPr/>
          </a:p>
        </p:txBody>
      </p:sp>
      <p:cxnSp>
        <p:nvCxnSpPr>
          <p:cNvPr id="280" name="Google Shape;280;p26"/>
          <p:cNvCxnSpPr/>
          <p:nvPr/>
        </p:nvCxnSpPr>
        <p:spPr>
          <a:xfrm>
            <a:off x="3441925" y="2433225"/>
            <a:ext cx="8400" cy="2217000"/>
          </a:xfrm>
          <a:prstGeom prst="straightConnector1">
            <a:avLst/>
          </a:prstGeom>
          <a:noFill/>
          <a:ln w="228600" cap="flat" cmpd="sng">
            <a:solidFill>
              <a:srgbClr val="FFFFFF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81" name="Google Shape;281;p26"/>
          <p:cNvSpPr txBox="1"/>
          <p:nvPr/>
        </p:nvSpPr>
        <p:spPr>
          <a:xfrm>
            <a:off x="3744625" y="1555325"/>
            <a:ext cx="3000000" cy="48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lang="en" sz="1981">
                <a:solidFill>
                  <a:srgbClr val="176161"/>
                </a:solidFill>
                <a:latin typeface="Lato Black"/>
                <a:ea typeface="Lato Black"/>
                <a:cs typeface="Lato Black"/>
                <a:sym typeface="Lato Black"/>
              </a:rPr>
              <a:t>Calculation Logic</a:t>
            </a:r>
            <a:endParaRPr sz="1981">
              <a:solidFill>
                <a:srgbClr val="176161"/>
              </a:solidFill>
              <a:latin typeface="Lato Black"/>
              <a:ea typeface="Lato Black"/>
              <a:cs typeface="Lato Black"/>
              <a:sym typeface="Lato Black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27"/>
          <p:cNvSpPr/>
          <p:nvPr/>
        </p:nvSpPr>
        <p:spPr>
          <a:xfrm>
            <a:off x="5960578" y="4255325"/>
            <a:ext cx="2693622" cy="4827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7" name="Google Shape;287;p27"/>
          <p:cNvSpPr/>
          <p:nvPr/>
        </p:nvSpPr>
        <p:spPr>
          <a:xfrm>
            <a:off x="2930403" y="3772700"/>
            <a:ext cx="2801583" cy="4827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27"/>
          <p:cNvSpPr/>
          <p:nvPr/>
        </p:nvSpPr>
        <p:spPr>
          <a:xfrm>
            <a:off x="379200" y="3290075"/>
            <a:ext cx="2322612" cy="4827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9" name="Google Shape;289;p27"/>
          <p:cNvSpPr/>
          <p:nvPr/>
        </p:nvSpPr>
        <p:spPr>
          <a:xfrm>
            <a:off x="4864350" y="1777550"/>
            <a:ext cx="3766200" cy="872400"/>
          </a:xfrm>
          <a:prstGeom prst="roundRect">
            <a:avLst>
              <a:gd name="adj" fmla="val 16667"/>
            </a:avLst>
          </a:prstGeom>
          <a:solidFill>
            <a:srgbClr val="17616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0" name="Google Shape;290;p27"/>
          <p:cNvSpPr/>
          <p:nvPr/>
        </p:nvSpPr>
        <p:spPr>
          <a:xfrm>
            <a:off x="446950" y="1800275"/>
            <a:ext cx="3766200" cy="872400"/>
          </a:xfrm>
          <a:prstGeom prst="roundRect">
            <a:avLst>
              <a:gd name="adj" fmla="val 16667"/>
            </a:avLst>
          </a:prstGeom>
          <a:solidFill>
            <a:srgbClr val="17616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1" name="Google Shape;291;p2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104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latin typeface="Playfair Display SemiBold"/>
                <a:ea typeface="Playfair Display SemiBold"/>
                <a:cs typeface="Playfair Display SemiBold"/>
                <a:sym typeface="Playfair Display SemiBold"/>
              </a:rPr>
              <a:t>Deployment Strategy</a:t>
            </a:r>
            <a:endParaRPr sz="3000">
              <a:latin typeface="Playfair Display SemiBold"/>
              <a:ea typeface="Playfair Display SemiBold"/>
              <a:cs typeface="Playfair Display SemiBold"/>
              <a:sym typeface="Playfair Display SemiBol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latin typeface="Lato Light"/>
                <a:ea typeface="Lato Light"/>
                <a:cs typeface="Lato Light"/>
                <a:sym typeface="Lato Light"/>
              </a:rPr>
              <a:t>From model training to real-time prevention</a:t>
            </a:r>
            <a:endParaRPr sz="2000">
              <a:latin typeface="Lato Light"/>
              <a:ea typeface="Lato Light"/>
              <a:cs typeface="Lato Light"/>
              <a:sym typeface="Lato Light"/>
            </a:endParaRPr>
          </a:p>
        </p:txBody>
      </p:sp>
      <p:sp>
        <p:nvSpPr>
          <p:cNvPr id="292" name="Google Shape;292;p27"/>
          <p:cNvSpPr txBox="1">
            <a:spLocks noGrp="1"/>
          </p:cNvSpPr>
          <p:nvPr>
            <p:ph type="body" idx="1"/>
          </p:nvPr>
        </p:nvSpPr>
        <p:spPr>
          <a:xfrm>
            <a:off x="419975" y="1783500"/>
            <a:ext cx="3793200" cy="87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4572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18"/>
              <a:buNone/>
            </a:pPr>
            <a:r>
              <a:rPr lang="en" sz="1500" b="1">
                <a:solidFill>
                  <a:srgbClr val="FAFAFA"/>
                </a:solidFill>
                <a:latin typeface="Lato"/>
                <a:ea typeface="Lato"/>
                <a:cs typeface="Lato"/>
                <a:sym typeface="Lato"/>
              </a:rPr>
              <a:t>Real-time path</a:t>
            </a:r>
            <a:endParaRPr sz="1500" b="1">
              <a:solidFill>
                <a:srgbClr val="FAFAFA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18"/>
              <a:buNone/>
            </a:pPr>
            <a:r>
              <a:rPr lang="en" sz="1200">
                <a:solidFill>
                  <a:srgbClr val="FAFAFA"/>
                </a:solidFill>
                <a:latin typeface="Lato Light"/>
                <a:ea typeface="Lato Light"/>
                <a:cs typeface="Lato Light"/>
                <a:sym typeface="Lato Light"/>
              </a:rPr>
              <a:t>Score every transaction in real time </a:t>
            </a:r>
            <a:endParaRPr sz="1200">
              <a:solidFill>
                <a:srgbClr val="FAFAFA"/>
              </a:solidFill>
              <a:latin typeface="Lato Light"/>
              <a:ea typeface="Lato Light"/>
              <a:cs typeface="Lato Light"/>
              <a:sym typeface="Lato Light"/>
            </a:endParaRPr>
          </a:p>
          <a:p>
            <a:pPr marL="4572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18"/>
              <a:buNone/>
            </a:pPr>
            <a:r>
              <a:rPr lang="en" sz="1200">
                <a:solidFill>
                  <a:srgbClr val="FAFAFA"/>
                </a:solidFill>
                <a:latin typeface="Lato Light"/>
                <a:ea typeface="Lato Light"/>
                <a:cs typeface="Lato Light"/>
                <a:sym typeface="Lato Light"/>
              </a:rPr>
              <a:t>LDA delivers sub-100 ms decisions at the point of sale</a:t>
            </a:r>
            <a:endParaRPr sz="1000">
              <a:solidFill>
                <a:srgbClr val="FAFAFA"/>
              </a:solidFill>
              <a:latin typeface="Lato Light"/>
              <a:ea typeface="Lato Light"/>
              <a:cs typeface="Lato Light"/>
              <a:sym typeface="Lato Light"/>
            </a:endParaRPr>
          </a:p>
        </p:txBody>
      </p:sp>
      <p:sp>
        <p:nvSpPr>
          <p:cNvPr id="293" name="Google Shape;293;p27"/>
          <p:cNvSpPr txBox="1">
            <a:spLocks noGrp="1"/>
          </p:cNvSpPr>
          <p:nvPr>
            <p:ph type="body" idx="1"/>
          </p:nvPr>
        </p:nvSpPr>
        <p:spPr>
          <a:xfrm>
            <a:off x="4864350" y="1780475"/>
            <a:ext cx="3766200" cy="87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4572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18"/>
              <a:buFont typeface="Arial"/>
              <a:buNone/>
            </a:pPr>
            <a:r>
              <a:rPr lang="en" sz="1600" b="1">
                <a:solidFill>
                  <a:srgbClr val="FAFAFA"/>
                </a:solidFill>
                <a:latin typeface="Lato"/>
                <a:ea typeface="Lato"/>
                <a:cs typeface="Lato"/>
                <a:sym typeface="Lato"/>
              </a:rPr>
              <a:t>Offline path</a:t>
            </a:r>
            <a:endParaRPr sz="1200" b="1">
              <a:solidFill>
                <a:srgbClr val="FAFAFA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18"/>
              <a:buNone/>
            </a:pPr>
            <a:r>
              <a:rPr lang="en" sz="1200">
                <a:solidFill>
                  <a:srgbClr val="FAFAFA"/>
                </a:solidFill>
                <a:latin typeface="Lato Light"/>
                <a:ea typeface="Lato Light"/>
                <a:cs typeface="Lato Light"/>
                <a:sym typeface="Lato Light"/>
              </a:rPr>
              <a:t>KNN re-scores recent transactions to catch fraud the real-time model missed</a:t>
            </a:r>
            <a:endParaRPr sz="1000">
              <a:solidFill>
                <a:srgbClr val="FAFAFA"/>
              </a:solidFill>
              <a:latin typeface="Lato Light"/>
              <a:ea typeface="Lato Light"/>
              <a:cs typeface="Lato Light"/>
              <a:sym typeface="Lato Light"/>
            </a:endParaRPr>
          </a:p>
        </p:txBody>
      </p:sp>
      <p:sp>
        <p:nvSpPr>
          <p:cNvPr id="294" name="Google Shape;294;p27"/>
          <p:cNvSpPr txBox="1">
            <a:spLocks noGrp="1"/>
          </p:cNvSpPr>
          <p:nvPr>
            <p:ph type="body" idx="1"/>
          </p:nvPr>
        </p:nvSpPr>
        <p:spPr>
          <a:xfrm>
            <a:off x="379200" y="2908425"/>
            <a:ext cx="2535925" cy="1044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4572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18"/>
              <a:buNone/>
            </a:pPr>
            <a:r>
              <a:rPr lang="en" sz="1200" b="1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Serialization and integration</a:t>
            </a:r>
            <a:endParaRPr sz="1200" b="1" dirty="0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18"/>
              <a:buNone/>
            </a:pPr>
            <a:endParaRPr sz="1000" dirty="0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18"/>
              <a:buNone/>
            </a:pPr>
            <a:r>
              <a:rPr lang="en" sz="1000" dirty="0">
                <a:solidFill>
                  <a:srgbClr val="000000"/>
                </a:solidFill>
                <a:latin typeface="Lato Light"/>
                <a:ea typeface="Lato Light"/>
                <a:cs typeface="Lato Light"/>
                <a:sym typeface="Lato Light"/>
              </a:rPr>
              <a:t>Save the trained model and the fitted </a:t>
            </a:r>
            <a:r>
              <a:rPr lang="en" sz="1000" dirty="0" err="1">
                <a:solidFill>
                  <a:srgbClr val="000000"/>
                </a:solidFill>
                <a:latin typeface="Lato Light"/>
                <a:ea typeface="Lato Light"/>
                <a:cs typeface="Lato Light"/>
                <a:sym typeface="Lato Light"/>
              </a:rPr>
              <a:t>StandardScaler</a:t>
            </a:r>
            <a:r>
              <a:rPr lang="en" sz="1000" dirty="0">
                <a:solidFill>
                  <a:srgbClr val="000000"/>
                </a:solidFill>
                <a:latin typeface="Lato Light"/>
                <a:ea typeface="Lato Light"/>
                <a:cs typeface="Lato Light"/>
                <a:sym typeface="Lato Light"/>
              </a:rPr>
              <a:t> together</a:t>
            </a:r>
            <a:endParaRPr sz="1000" dirty="0">
              <a:solidFill>
                <a:srgbClr val="000000"/>
              </a:solidFill>
              <a:latin typeface="Lato Light"/>
              <a:ea typeface="Lato Light"/>
              <a:cs typeface="Lato Light"/>
              <a:sym typeface="Lato Light"/>
            </a:endParaRPr>
          </a:p>
          <a:p>
            <a:pPr marL="4572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18"/>
              <a:buNone/>
            </a:pPr>
            <a:endParaRPr sz="1000" dirty="0">
              <a:solidFill>
                <a:srgbClr val="000000"/>
              </a:solidFill>
              <a:latin typeface="Lato Light"/>
              <a:ea typeface="Lato Light"/>
              <a:cs typeface="Lato Light"/>
              <a:sym typeface="Lato Light"/>
            </a:endParaRPr>
          </a:p>
        </p:txBody>
      </p:sp>
      <p:sp>
        <p:nvSpPr>
          <p:cNvPr id="295" name="Google Shape;295;p27"/>
          <p:cNvSpPr txBox="1">
            <a:spLocks noGrp="1"/>
          </p:cNvSpPr>
          <p:nvPr>
            <p:ph type="body" idx="1"/>
          </p:nvPr>
        </p:nvSpPr>
        <p:spPr>
          <a:xfrm>
            <a:off x="5854138" y="3950440"/>
            <a:ext cx="2867400" cy="918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4572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18"/>
              <a:buFont typeface="Arial"/>
              <a:buNone/>
            </a:pPr>
            <a:r>
              <a:rPr lang="en" sz="1200" b="1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Monitoring and retraining</a:t>
            </a:r>
            <a:endParaRPr sz="1200" b="1" dirty="0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18"/>
              <a:buNone/>
            </a:pPr>
            <a:endParaRPr sz="1000" dirty="0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18"/>
              <a:buNone/>
            </a:pPr>
            <a:r>
              <a:rPr lang="en" sz="1000" dirty="0">
                <a:solidFill>
                  <a:srgbClr val="000000"/>
                </a:solidFill>
                <a:latin typeface="Lato Light"/>
                <a:ea typeface="Lato Light"/>
                <a:cs typeface="Lato Light"/>
                <a:sym typeface="Lato Light"/>
              </a:rPr>
              <a:t>Track live accuracy, detect when fraud patterns shift, and retrain monthly or on detected drift</a:t>
            </a:r>
            <a:endParaRPr sz="1000" dirty="0">
              <a:solidFill>
                <a:srgbClr val="000000"/>
              </a:solidFill>
              <a:latin typeface="Lato Light"/>
              <a:ea typeface="Lato Light"/>
              <a:cs typeface="Lato Light"/>
              <a:sym typeface="Lato Light"/>
            </a:endParaRPr>
          </a:p>
          <a:p>
            <a:pPr marL="4572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18"/>
              <a:buNone/>
            </a:pPr>
            <a:endParaRPr sz="1000" dirty="0">
              <a:solidFill>
                <a:srgbClr val="000000"/>
              </a:solidFill>
              <a:latin typeface="Lato Light"/>
              <a:ea typeface="Lato Light"/>
              <a:cs typeface="Lato Light"/>
              <a:sym typeface="Lato Light"/>
            </a:endParaRPr>
          </a:p>
        </p:txBody>
      </p:sp>
      <p:cxnSp>
        <p:nvCxnSpPr>
          <p:cNvPr id="296" name="Google Shape;296;p27"/>
          <p:cNvCxnSpPr/>
          <p:nvPr/>
        </p:nvCxnSpPr>
        <p:spPr>
          <a:xfrm>
            <a:off x="380675" y="3290075"/>
            <a:ext cx="8249700" cy="0"/>
          </a:xfrm>
          <a:prstGeom prst="straightConnector1">
            <a:avLst/>
          </a:prstGeom>
          <a:noFill/>
          <a:ln w="28575" cap="flat" cmpd="sng">
            <a:solidFill>
              <a:srgbClr val="17616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97" name="Google Shape;297;p27"/>
          <p:cNvSpPr txBox="1">
            <a:spLocks noGrp="1"/>
          </p:cNvSpPr>
          <p:nvPr>
            <p:ph type="body" idx="1"/>
          </p:nvPr>
        </p:nvSpPr>
        <p:spPr>
          <a:xfrm>
            <a:off x="2839700" y="3269490"/>
            <a:ext cx="3105600" cy="1156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4572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18"/>
              <a:buNone/>
            </a:pPr>
            <a:r>
              <a:rPr lang="en" sz="1200" b="1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Tunable decision line</a:t>
            </a:r>
            <a:endParaRPr sz="1200" b="1" dirty="0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18"/>
              <a:buNone/>
            </a:pPr>
            <a:endParaRPr sz="1000" dirty="0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18"/>
              <a:buNone/>
            </a:pPr>
            <a:r>
              <a:rPr lang="en" sz="1000" dirty="0">
                <a:solidFill>
                  <a:srgbClr val="000000"/>
                </a:solidFill>
                <a:latin typeface="Lato Light"/>
                <a:ea typeface="Lato Light"/>
                <a:cs typeface="Lato Light"/>
                <a:sym typeface="Lato Light"/>
              </a:rPr>
              <a:t>The fraud cutoff is a business setting adjusted as review capacity or fraud costs change</a:t>
            </a:r>
            <a:endParaRPr sz="1000" dirty="0">
              <a:solidFill>
                <a:srgbClr val="000000"/>
              </a:solidFill>
              <a:latin typeface="Lato Light"/>
              <a:ea typeface="Lato Light"/>
              <a:cs typeface="Lato Light"/>
              <a:sym typeface="Lato Light"/>
            </a:endParaRPr>
          </a:p>
        </p:txBody>
      </p:sp>
      <p:cxnSp>
        <p:nvCxnSpPr>
          <p:cNvPr id="298" name="Google Shape;298;p27"/>
          <p:cNvCxnSpPr/>
          <p:nvPr/>
        </p:nvCxnSpPr>
        <p:spPr>
          <a:xfrm>
            <a:off x="2929315" y="3772689"/>
            <a:ext cx="5701200" cy="0"/>
          </a:xfrm>
          <a:prstGeom prst="straightConnector1">
            <a:avLst/>
          </a:prstGeom>
          <a:noFill/>
          <a:ln w="19050" cap="flat" cmpd="sng">
            <a:solidFill>
              <a:srgbClr val="17616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99" name="Google Shape;299;p27"/>
          <p:cNvCxnSpPr>
            <a:cxnSpLocks/>
          </p:cNvCxnSpPr>
          <p:nvPr/>
        </p:nvCxnSpPr>
        <p:spPr>
          <a:xfrm>
            <a:off x="5939225" y="4255300"/>
            <a:ext cx="2691400" cy="0"/>
          </a:xfrm>
          <a:prstGeom prst="straightConnector1">
            <a:avLst/>
          </a:prstGeom>
          <a:noFill/>
          <a:ln w="9525" cap="flat" cmpd="sng">
            <a:solidFill>
              <a:srgbClr val="17616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28"/>
          <p:cNvSpPr/>
          <p:nvPr/>
        </p:nvSpPr>
        <p:spPr>
          <a:xfrm>
            <a:off x="0" y="3556400"/>
            <a:ext cx="9177600" cy="1173300"/>
          </a:xfrm>
          <a:prstGeom prst="rect">
            <a:avLst/>
          </a:prstGeom>
          <a:solidFill>
            <a:srgbClr val="17616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5" name="Google Shape;305;p28"/>
          <p:cNvSpPr/>
          <p:nvPr/>
        </p:nvSpPr>
        <p:spPr>
          <a:xfrm>
            <a:off x="0" y="2081016"/>
            <a:ext cx="9177600" cy="11256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6" name="Google Shape;306;p28"/>
          <p:cNvSpPr txBox="1">
            <a:spLocks noGrp="1"/>
          </p:cNvSpPr>
          <p:nvPr>
            <p:ph type="body" idx="1"/>
          </p:nvPr>
        </p:nvSpPr>
        <p:spPr>
          <a:xfrm>
            <a:off x="311700" y="1669705"/>
            <a:ext cx="4455300" cy="1776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 b="1">
                <a:solidFill>
                  <a:srgbClr val="176161"/>
                </a:solidFill>
                <a:highlight>
                  <a:srgbClr val="FFFFFF"/>
                </a:highlight>
                <a:latin typeface="Lato"/>
                <a:ea typeface="Lato"/>
                <a:cs typeface="Lato"/>
                <a:sym typeface="Lato"/>
              </a:rPr>
              <a:t>What We Learned</a:t>
            </a:r>
            <a:endParaRPr sz="1700" b="1">
              <a:solidFill>
                <a:srgbClr val="176161"/>
              </a:solidFill>
              <a:highlight>
                <a:srgbClr val="FFFFFF"/>
              </a:highlight>
              <a:latin typeface="Lato"/>
              <a:ea typeface="Lato"/>
              <a:cs typeface="Lato"/>
              <a:sym typeface="Lato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0F1115"/>
                </a:solidFill>
                <a:latin typeface="Lato Light"/>
                <a:ea typeface="Lato Light"/>
                <a:cs typeface="Lato Light"/>
                <a:sym typeface="Lato Light"/>
              </a:rPr>
              <a:t>• KNN has the highest PR-AUC (0.841)</a:t>
            </a:r>
            <a:br>
              <a:rPr lang="en" sz="1200">
                <a:solidFill>
                  <a:srgbClr val="0F1115"/>
                </a:solidFill>
                <a:latin typeface="Lato Light"/>
                <a:ea typeface="Lato Light"/>
                <a:cs typeface="Lato Light"/>
                <a:sym typeface="Lato Light"/>
              </a:rPr>
            </a:br>
            <a:r>
              <a:rPr lang="en" sz="1200">
                <a:solidFill>
                  <a:srgbClr val="0F1115"/>
                </a:solidFill>
                <a:latin typeface="Lato Light"/>
                <a:ea typeface="Lato Light"/>
                <a:cs typeface="Lato Light"/>
                <a:sym typeface="Lato Light"/>
              </a:rPr>
              <a:t>• LDA is fastest (&lt;100ms)</a:t>
            </a:r>
            <a:br>
              <a:rPr lang="en" sz="1200">
                <a:solidFill>
                  <a:srgbClr val="0F1115"/>
                </a:solidFill>
                <a:latin typeface="Lato Light"/>
                <a:ea typeface="Lato Light"/>
                <a:cs typeface="Lato Light"/>
                <a:sym typeface="Lato Light"/>
              </a:rPr>
            </a:br>
            <a:r>
              <a:rPr lang="en" sz="1200">
                <a:solidFill>
                  <a:srgbClr val="0F1115"/>
                </a:solidFill>
                <a:latin typeface="Lato Light"/>
                <a:ea typeface="Lato Light"/>
                <a:cs typeface="Lato Light"/>
                <a:sym typeface="Lato Light"/>
              </a:rPr>
              <a:t>• LR and QDA: too many false alarms (1,000+) for operations</a:t>
            </a:r>
            <a:br>
              <a:rPr lang="en" sz="1200">
                <a:solidFill>
                  <a:srgbClr val="0F1115"/>
                </a:solidFill>
                <a:latin typeface="Lato Light"/>
                <a:ea typeface="Lato Light"/>
                <a:cs typeface="Lato Light"/>
                <a:sym typeface="Lato Light"/>
              </a:rPr>
            </a:br>
            <a:r>
              <a:rPr lang="en" sz="1200">
                <a:solidFill>
                  <a:srgbClr val="0F1115"/>
                </a:solidFill>
                <a:latin typeface="Lato Light"/>
                <a:ea typeface="Lato Light"/>
                <a:cs typeface="Lato Light"/>
                <a:sym typeface="Lato Light"/>
              </a:rPr>
              <a:t>• Default 0.5 threshold is NOT optimal</a:t>
            </a:r>
            <a:endParaRPr/>
          </a:p>
        </p:txBody>
      </p:sp>
      <p:sp>
        <p:nvSpPr>
          <p:cNvPr id="307" name="Google Shape;307;p2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134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latin typeface="Playfair Display SemiBold"/>
                <a:ea typeface="Playfair Display SemiBold"/>
                <a:cs typeface="Playfair Display SemiBold"/>
                <a:sym typeface="Playfair Display SemiBold"/>
              </a:rPr>
              <a:t>Lessons Learned and Recommendations</a:t>
            </a:r>
            <a:endParaRPr sz="3000">
              <a:latin typeface="Playfair Display SemiBold"/>
              <a:ea typeface="Playfair Display SemiBold"/>
              <a:cs typeface="Playfair Display SemiBold"/>
              <a:sym typeface="Playfair Display SemiBol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latin typeface="Lato Light"/>
                <a:ea typeface="Lato Light"/>
                <a:cs typeface="Lato Light"/>
                <a:sym typeface="Lato Light"/>
              </a:rPr>
              <a:t>Roadmap for improving model accuracy and business value </a:t>
            </a:r>
            <a:endParaRPr sz="2000">
              <a:latin typeface="Lato Light"/>
              <a:ea typeface="Lato Light"/>
              <a:cs typeface="Lato Light"/>
              <a:sym typeface="Lato Light"/>
            </a:endParaRPr>
          </a:p>
        </p:txBody>
      </p:sp>
      <p:sp>
        <p:nvSpPr>
          <p:cNvPr id="308" name="Google Shape;308;p28"/>
          <p:cNvSpPr txBox="1"/>
          <p:nvPr/>
        </p:nvSpPr>
        <p:spPr>
          <a:xfrm>
            <a:off x="4822325" y="1669705"/>
            <a:ext cx="4010100" cy="177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 b="1">
                <a:solidFill>
                  <a:srgbClr val="176161"/>
                </a:solidFill>
                <a:highlight>
                  <a:srgbClr val="FFFFFF"/>
                </a:highlight>
                <a:latin typeface="Lato"/>
                <a:ea typeface="Lato"/>
                <a:cs typeface="Lato"/>
                <a:sym typeface="Lato"/>
              </a:rPr>
              <a:t>Next Steps</a:t>
            </a:r>
            <a:endParaRPr sz="1700" b="1">
              <a:solidFill>
                <a:srgbClr val="176161"/>
              </a:solidFill>
              <a:highlight>
                <a:srgbClr val="FFFFFF"/>
              </a:highlight>
              <a:latin typeface="Lato"/>
              <a:ea typeface="Lato"/>
              <a:cs typeface="Lato"/>
              <a:sym typeface="Lato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>
                <a:solidFill>
                  <a:srgbClr val="0F1115"/>
                </a:solidFill>
                <a:latin typeface="Lato Light"/>
                <a:ea typeface="Lato Light"/>
                <a:cs typeface="Lato Light"/>
                <a:sym typeface="Lato Light"/>
              </a:rPr>
              <a:t>• Try XGBoost, Random Forest, Neural Net</a:t>
            </a:r>
            <a:br>
              <a:rPr lang="en" sz="1200">
                <a:solidFill>
                  <a:srgbClr val="0F1115"/>
                </a:solidFill>
                <a:latin typeface="Lato Light"/>
                <a:ea typeface="Lato Light"/>
                <a:cs typeface="Lato Light"/>
                <a:sym typeface="Lato Light"/>
              </a:rPr>
            </a:br>
            <a:r>
              <a:rPr lang="en" sz="1200">
                <a:solidFill>
                  <a:srgbClr val="0F1115"/>
                </a:solidFill>
                <a:latin typeface="Lato Light"/>
                <a:ea typeface="Lato Light"/>
                <a:cs typeface="Lato Light"/>
                <a:sym typeface="Lato Light"/>
              </a:rPr>
              <a:t>• Test SMOTE / ADASYN instead of class weights</a:t>
            </a:r>
            <a:br>
              <a:rPr lang="en" sz="1200">
                <a:solidFill>
                  <a:srgbClr val="0F1115"/>
                </a:solidFill>
                <a:latin typeface="Lato Light"/>
                <a:ea typeface="Lato Light"/>
                <a:cs typeface="Lato Light"/>
                <a:sym typeface="Lato Light"/>
              </a:rPr>
            </a:br>
            <a:r>
              <a:rPr lang="en" sz="1200">
                <a:solidFill>
                  <a:srgbClr val="0F1115"/>
                </a:solidFill>
                <a:latin typeface="Lato Light"/>
                <a:ea typeface="Lato Light"/>
                <a:cs typeface="Lato Light"/>
                <a:sym typeface="Lato Light"/>
              </a:rPr>
              <a:t>• Replace $5 placeholder with real review costs</a:t>
            </a:r>
            <a:br>
              <a:rPr lang="en" sz="1200">
                <a:solidFill>
                  <a:srgbClr val="0F1115"/>
                </a:solidFill>
                <a:latin typeface="Lato Light"/>
                <a:ea typeface="Lato Light"/>
                <a:cs typeface="Lato Light"/>
                <a:sym typeface="Lato Light"/>
              </a:rPr>
            </a:br>
            <a:r>
              <a:rPr lang="en" sz="1200">
                <a:solidFill>
                  <a:srgbClr val="0F1115"/>
                </a:solidFill>
                <a:latin typeface="Lato Light"/>
                <a:ea typeface="Lato Light"/>
                <a:cs typeface="Lato Light"/>
                <a:sym typeface="Lato Light"/>
              </a:rPr>
              <a:t>• Tune threshold for ALL models, not just KNN</a:t>
            </a:r>
            <a:endParaRPr sz="1200">
              <a:solidFill>
                <a:srgbClr val="0F1115"/>
              </a:solidFill>
              <a:latin typeface="Lato Light"/>
              <a:ea typeface="Lato Light"/>
              <a:cs typeface="Lato Light"/>
              <a:sym typeface="Lato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2"/>
              </a:solidFill>
            </a:endParaRPr>
          </a:p>
        </p:txBody>
      </p:sp>
      <p:sp>
        <p:nvSpPr>
          <p:cNvPr id="309" name="Google Shape;309;p28"/>
          <p:cNvSpPr txBox="1"/>
          <p:nvPr/>
        </p:nvSpPr>
        <p:spPr>
          <a:xfrm>
            <a:off x="311700" y="3625400"/>
            <a:ext cx="3947100" cy="110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 b="1">
                <a:solidFill>
                  <a:srgbClr val="FAFAFA"/>
                </a:solidFill>
                <a:latin typeface="Lato"/>
                <a:ea typeface="Lato"/>
                <a:cs typeface="Lato"/>
                <a:sym typeface="Lato"/>
              </a:rPr>
              <a:t>Future Enhancements </a:t>
            </a:r>
            <a:endParaRPr sz="1700" b="1">
              <a:solidFill>
                <a:srgbClr val="FAFAFA"/>
              </a:solidFill>
              <a:latin typeface="Lato"/>
              <a:ea typeface="Lato"/>
              <a:cs typeface="Lato"/>
              <a:sym typeface="Lato"/>
            </a:endParaRPr>
          </a:p>
          <a:p>
            <a:pPr marL="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300">
                <a:solidFill>
                  <a:srgbClr val="FAFAFA"/>
                </a:solidFill>
                <a:latin typeface="Lato Light"/>
                <a:ea typeface="Lato Light"/>
                <a:cs typeface="Lato Light"/>
                <a:sym typeface="Lato Light"/>
              </a:rPr>
              <a:t>• Merchant codes, device fingerprinting, geolocation</a:t>
            </a:r>
            <a:br>
              <a:rPr lang="en" sz="1300">
                <a:solidFill>
                  <a:srgbClr val="FAFAFA"/>
                </a:solidFill>
                <a:latin typeface="Lato Light"/>
                <a:ea typeface="Lato Light"/>
                <a:cs typeface="Lato Light"/>
                <a:sym typeface="Lato Light"/>
              </a:rPr>
            </a:br>
            <a:r>
              <a:rPr lang="en" sz="1300">
                <a:solidFill>
                  <a:srgbClr val="FAFAFA"/>
                </a:solidFill>
                <a:latin typeface="Lato Light"/>
                <a:ea typeface="Lato Light"/>
                <a:cs typeface="Lato Light"/>
                <a:sym typeface="Lato Light"/>
              </a:rPr>
              <a:t>• Longer time window (beyond 48 hours)</a:t>
            </a:r>
            <a:endParaRPr sz="1300">
              <a:solidFill>
                <a:srgbClr val="FAFAFA"/>
              </a:solidFill>
              <a:latin typeface="Lato Light"/>
              <a:ea typeface="Lato Light"/>
              <a:cs typeface="Lato Light"/>
              <a:sym typeface="Lato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2"/>
              </a:solidFill>
            </a:endParaRPr>
          </a:p>
        </p:txBody>
      </p:sp>
      <p:sp>
        <p:nvSpPr>
          <p:cNvPr id="310" name="Google Shape;310;p28"/>
          <p:cNvSpPr txBox="1"/>
          <p:nvPr/>
        </p:nvSpPr>
        <p:spPr>
          <a:xfrm>
            <a:off x="4822325" y="3625400"/>
            <a:ext cx="3947100" cy="110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 b="1">
                <a:solidFill>
                  <a:srgbClr val="FAFAFA"/>
                </a:solidFill>
                <a:latin typeface="Lato"/>
                <a:ea typeface="Lato"/>
                <a:cs typeface="Lato"/>
                <a:sym typeface="Lato"/>
              </a:rPr>
              <a:t>Business Extensions</a:t>
            </a:r>
            <a:endParaRPr sz="1700" b="1">
              <a:solidFill>
                <a:srgbClr val="FAFAFA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lvl="0" indent="-31115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FAFAFA"/>
              </a:buClr>
              <a:buSzPts val="1300"/>
              <a:buFont typeface="Lato Light"/>
              <a:buChar char="●"/>
            </a:pPr>
            <a:r>
              <a:rPr lang="en" sz="1300">
                <a:solidFill>
                  <a:srgbClr val="FAFAFA"/>
                </a:solidFill>
                <a:latin typeface="Lato Light"/>
                <a:ea typeface="Lato Light"/>
                <a:cs typeface="Lato Light"/>
                <a:sym typeface="Lato Light"/>
              </a:rPr>
              <a:t>Account Takeover</a:t>
            </a:r>
            <a:endParaRPr sz="1300">
              <a:solidFill>
                <a:srgbClr val="FAFAFA"/>
              </a:solidFill>
              <a:latin typeface="Lato Light"/>
              <a:ea typeface="Lato Light"/>
              <a:cs typeface="Lato Light"/>
              <a:sym typeface="Lato Light"/>
            </a:endParaRPr>
          </a:p>
          <a:p>
            <a:pPr marL="457200" lvl="0" indent="-3111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AFAFA"/>
              </a:buClr>
              <a:buSzPts val="1300"/>
              <a:buFont typeface="Lato Light"/>
              <a:buChar char="●"/>
            </a:pPr>
            <a:r>
              <a:rPr lang="en" sz="1300">
                <a:solidFill>
                  <a:srgbClr val="FAFAFA"/>
                </a:solidFill>
                <a:latin typeface="Lato Light"/>
                <a:ea typeface="Lato Light"/>
                <a:cs typeface="Lato Light"/>
                <a:sym typeface="Lato Light"/>
              </a:rPr>
              <a:t>Anti-Money Laundering</a:t>
            </a:r>
            <a:endParaRPr sz="1800">
              <a:solidFill>
                <a:schemeClr val="dk2"/>
              </a:solidFill>
            </a:endParaRPr>
          </a:p>
        </p:txBody>
      </p:sp>
      <p:cxnSp>
        <p:nvCxnSpPr>
          <p:cNvPr id="311" name="Google Shape;311;p28"/>
          <p:cNvCxnSpPr/>
          <p:nvPr/>
        </p:nvCxnSpPr>
        <p:spPr>
          <a:xfrm>
            <a:off x="-8350" y="2064405"/>
            <a:ext cx="9162900" cy="0"/>
          </a:xfrm>
          <a:prstGeom prst="straightConnector1">
            <a:avLst/>
          </a:prstGeom>
          <a:noFill/>
          <a:ln w="38100" cap="flat" cmpd="sng">
            <a:solidFill>
              <a:srgbClr val="17616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2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134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latin typeface="Playfair Display SemiBold"/>
                <a:ea typeface="Playfair Display SemiBold"/>
                <a:cs typeface="Playfair Display SemiBold"/>
                <a:sym typeface="Playfair Display SemiBold"/>
              </a:rPr>
              <a:t>Sources</a:t>
            </a:r>
            <a:endParaRPr sz="3000">
              <a:latin typeface="Playfair Display SemiBold"/>
              <a:ea typeface="Playfair Display SemiBold"/>
              <a:cs typeface="Playfair Display SemiBold"/>
              <a:sym typeface="Playfair Display SemiBol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>
              <a:latin typeface="Lato Light"/>
              <a:ea typeface="Lato Light"/>
              <a:cs typeface="Lato Light"/>
              <a:sym typeface="Lato Light"/>
            </a:endParaRPr>
          </a:p>
        </p:txBody>
      </p:sp>
      <p:sp>
        <p:nvSpPr>
          <p:cNvPr id="317" name="Google Shape;317;p29"/>
          <p:cNvSpPr txBox="1">
            <a:spLocks noGrp="1"/>
          </p:cNvSpPr>
          <p:nvPr>
            <p:ph type="body" idx="1"/>
          </p:nvPr>
        </p:nvSpPr>
        <p:spPr>
          <a:xfrm>
            <a:off x="311700" y="1351550"/>
            <a:ext cx="8520600" cy="321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900">
                <a:solidFill>
                  <a:srgbClr val="000000"/>
                </a:solidFill>
                <a:latin typeface="Lato Light"/>
                <a:ea typeface="Lato Light"/>
                <a:cs typeface="Lato Light"/>
                <a:sym typeface="Lato Light"/>
              </a:rPr>
              <a:t>Kaggle Dataset: Machine Learning Group – ULB. “Credit Card Fraud Detection.” </a:t>
            </a:r>
            <a:r>
              <a:rPr lang="en" sz="1900" u="sng">
                <a:solidFill>
                  <a:srgbClr val="176161"/>
                </a:solidFill>
                <a:latin typeface="Lato Light"/>
                <a:ea typeface="Lato Light"/>
                <a:cs typeface="Lato Light"/>
                <a:sym typeface="Lato Light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https://www.kaggle.com/datasets/mlg-ulb/creditcardfraud</a:t>
            </a:r>
            <a:endParaRPr sz="1900">
              <a:solidFill>
                <a:srgbClr val="176161"/>
              </a:solidFill>
              <a:latin typeface="Lato Light"/>
              <a:ea typeface="Lato Light"/>
              <a:cs typeface="Lato Light"/>
              <a:sym typeface="Lato Light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rgbClr val="000000"/>
                </a:solidFill>
                <a:latin typeface="Lato Light"/>
                <a:ea typeface="Lato Light"/>
                <a:cs typeface="Lato Light"/>
                <a:sym typeface="Lato Light"/>
              </a:rPr>
              <a:t>Dal Pozzolo, A., Caelen, O., Johnson, R. A., &amp; Bontempi, G. (2015). “Calibrating Probability with Undersampling for Unbalanced Classification.” IEEE Symposium Series on Computational Intelligence (SSCI).</a:t>
            </a:r>
            <a:endParaRPr sz="1900">
              <a:solidFill>
                <a:srgbClr val="000000"/>
              </a:solidFill>
              <a:latin typeface="Lato Light"/>
              <a:ea typeface="Lato Light"/>
              <a:cs typeface="Lato Light"/>
              <a:sym typeface="Lato Light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chemeClr val="dk1"/>
                </a:solidFill>
                <a:latin typeface="Lato Light"/>
                <a:ea typeface="Lato Light"/>
                <a:cs typeface="Lato Light"/>
                <a:sym typeface="Lato Light"/>
              </a:rPr>
              <a:t>Icons: </a:t>
            </a:r>
            <a:r>
              <a:rPr lang="en" sz="1900" u="sng">
                <a:solidFill>
                  <a:srgbClr val="176161"/>
                </a:solidFill>
                <a:latin typeface="Lato Light"/>
                <a:ea typeface="Lato Light"/>
                <a:cs typeface="Lato Light"/>
                <a:sym typeface="Lato Light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https://fonts.google.com/icons</a:t>
            </a:r>
            <a:endParaRPr>
              <a:solidFill>
                <a:srgbClr val="176161"/>
              </a:solidFill>
            </a:endParaRPr>
          </a:p>
        </p:txBody>
      </p:sp>
      <p:cxnSp>
        <p:nvCxnSpPr>
          <p:cNvPr id="318" name="Google Shape;318;p29"/>
          <p:cNvCxnSpPr>
            <a:stCxn id="316" idx="1"/>
          </p:cNvCxnSpPr>
          <p:nvPr/>
        </p:nvCxnSpPr>
        <p:spPr>
          <a:xfrm>
            <a:off x="311700" y="1119575"/>
            <a:ext cx="8307300" cy="0"/>
          </a:xfrm>
          <a:prstGeom prst="straightConnector1">
            <a:avLst/>
          </a:prstGeom>
          <a:noFill/>
          <a:ln w="19050" cap="flat" cmpd="sng">
            <a:solidFill>
              <a:srgbClr val="17616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1110</Words>
  <Application>Microsoft Macintosh PowerPoint</Application>
  <PresentationFormat>On-screen Show (16:9)</PresentationFormat>
  <Paragraphs>223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7" baseType="lpstr">
      <vt:lpstr>Arial</vt:lpstr>
      <vt:lpstr>Lato Hairline</vt:lpstr>
      <vt:lpstr>Playfair Display SemiBold</vt:lpstr>
      <vt:lpstr>Playfair Display Medium</vt:lpstr>
      <vt:lpstr>Playfair Display</vt:lpstr>
      <vt:lpstr>Calibri</vt:lpstr>
      <vt:lpstr>Lato Black</vt:lpstr>
      <vt:lpstr>Lato Light</vt:lpstr>
      <vt:lpstr>Lato</vt:lpstr>
      <vt:lpstr>Simple Light</vt:lpstr>
      <vt:lpstr>Credit Card Fraud Detection</vt:lpstr>
      <vt:lpstr>Executive Summary Designing a Machine Learning pipeline to identify real-time financial fraud while minimizing false-alarms</vt:lpstr>
      <vt:lpstr>Why Fraud Matters Protect revenue, ensure compliance, and strengthen trust</vt:lpstr>
      <vt:lpstr>Objectives Building a model that captures fraud while minimizing false positives</vt:lpstr>
      <vt:lpstr>What Does the Data Look Like? A snapshot of credit‑card activity, fully anonymized for privacy</vt:lpstr>
      <vt:lpstr>Data Insights  What the Transaction Log Shows</vt:lpstr>
      <vt:lpstr>Key Drivers of Fraud The strongest anonymized variables (V‑numbers) that have the greatest influence on fraudulent activity.</vt:lpstr>
      <vt:lpstr>Preparing the Data Turning raw transaction logs into a trustworthy, model‑ready dataset</vt:lpstr>
      <vt:lpstr>Methodology and Tools Building a simple, fast Fraud-Detection pipeline</vt:lpstr>
      <vt:lpstr>Models Evaluated Choosing the right algorithm for a rare-fraud problem</vt:lpstr>
      <vt:lpstr>Model Performance KNN - the best balance of precision and recall</vt:lpstr>
      <vt:lpstr>Model Performance KNN - the best balance of precision and recall</vt:lpstr>
      <vt:lpstr>Business Impact Translating model accuracy into bottom-line saving</vt:lpstr>
      <vt:lpstr>Business Impact Translating model accuracy into bottom-line saving</vt:lpstr>
      <vt:lpstr>Deployment Strategy From model training to real-time prevention</vt:lpstr>
      <vt:lpstr>Lessons Learned and Recommendations Roadmap for improving model accuracy and business value </vt:lpstr>
      <vt:lpstr>Sources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Andrea Scherben</cp:lastModifiedBy>
  <cp:revision>1</cp:revision>
  <dcterms:modified xsi:type="dcterms:W3CDTF">2026-08-31T03:03:23Z</dcterms:modified>
</cp:coreProperties>
</file>